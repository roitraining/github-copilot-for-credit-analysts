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4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0" y="6409944"/>
            <a:ext cx="761695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049" y="437998"/>
            <a:ext cx="3146450" cy="57150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0556" y="6500470"/>
            <a:ext cx="1468526" cy="2670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66598" y="4131259"/>
            <a:ext cx="7193585" cy="470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2180" b="1" dirty="0">
                <a:solidFill>
                  <a:srgbClr val="B9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2180" dirty="0"/>
          </a:p>
        </p:txBody>
      </p:sp>
      <p:sp>
        <p:nvSpPr>
          <p:cNvPr id="8" name="Text 4"/>
          <p:cNvSpPr txBox="1"/>
          <p:nvPr/>
        </p:nvSpPr>
        <p:spPr>
          <a:xfrm>
            <a:off x="666598" y="4733849"/>
            <a:ext cx="10858500" cy="119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9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4: Agentic Governance and Code Lifecycle</a:t>
            </a:r>
            <a:endParaRPr lang="en-US" sz="3750" dirty="0"/>
          </a:p>
        </p:txBody>
      </p:sp>
      <p:sp>
        <p:nvSpPr>
          <p:cNvPr id="9" name="Text 5"/>
          <p:cNvSpPr txBox="1"/>
          <p:nvPr/>
        </p:nvSpPr>
        <p:spPr>
          <a:xfrm>
            <a:off x="152705" y="6409944"/>
            <a:ext cx="266913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0" name="Text 6"/>
          <p:cNvSpPr txBox="1"/>
          <p:nvPr/>
        </p:nvSpPr>
        <p:spPr>
          <a:xfrm>
            <a:off x="3088843" y="6409944"/>
            <a:ext cx="488563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1" name="Text 7"/>
          <p:cNvSpPr txBox="1"/>
          <p:nvPr/>
        </p:nvSpPr>
        <p:spPr>
          <a:xfrm>
            <a:off x="11544300" y="6409944"/>
            <a:ext cx="53309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of 28</a:t>
            </a:r>
            <a:endParaRPr lang="en-US" sz="11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0" y="6409944"/>
            <a:ext cx="761695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0634" y="6500470"/>
            <a:ext cx="1127455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4: Objectives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476402" y="1308506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Refactor, modularize, and vectorize slow Python analytics scripts</a:t>
            </a:r>
            <a:endParaRPr lang="en-US" sz="1730" dirty="0"/>
          </a:p>
        </p:txBody>
      </p:sp>
      <p:sp>
        <p:nvSpPr>
          <p:cNvPr id="8" name="Text 5"/>
          <p:cNvSpPr txBox="1"/>
          <p:nvPr/>
        </p:nvSpPr>
        <p:spPr>
          <a:xfrm>
            <a:off x="476402" y="1814170"/>
            <a:ext cx="11162995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 Copilot to add defensive assertions and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pytest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suites</a:t>
            </a:r>
            <a:endParaRPr lang="en-US" sz="1730" dirty="0"/>
          </a:p>
        </p:txBody>
      </p:sp>
      <p:sp>
        <p:nvSpPr>
          <p:cNvPr id="9" name="Text 6"/>
          <p:cNvSpPr txBox="1"/>
          <p:nvPr/>
        </p:nvSpPr>
        <p:spPr>
          <a:xfrm>
            <a:off x="476402" y="2320747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plan-first prompts, single-step approvals, and VS Code diff reviews</a:t>
            </a:r>
            <a:endParaRPr lang="en-US" sz="1730" dirty="0"/>
          </a:p>
        </p:txBody>
      </p:sp>
      <p:sp>
        <p:nvSpPr>
          <p:cNvPr id="10" name="Text 7"/>
          <p:cNvSpPr txBox="1"/>
          <p:nvPr/>
        </p:nvSpPr>
        <p:spPr>
          <a:xfrm>
            <a:off x="476402" y="2826410"/>
            <a:ext cx="11162995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reusable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.github/prompts/*.prompt.md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templates and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.github/skills/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governance playbooks</a:t>
            </a:r>
            <a:endParaRPr lang="en-US" sz="1730" dirty="0"/>
          </a:p>
        </p:txBody>
      </p:sp>
      <p:sp>
        <p:nvSpPr>
          <p:cNvPr id="11" name="Text 8"/>
          <p:cNvSpPr txBox="1"/>
          <p:nvPr/>
        </p:nvSpPr>
        <p:spPr>
          <a:xfrm>
            <a:off x="476402" y="3332074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grounded Model Cards, technical specifications, and docstrings</a:t>
            </a:r>
            <a:endParaRPr lang="en-US" sz="1730" dirty="0"/>
          </a:p>
        </p:txBody>
      </p:sp>
      <p:sp>
        <p:nvSpPr>
          <p:cNvPr id="12" name="Text 9"/>
          <p:cNvSpPr txBox="1"/>
          <p:nvPr/>
        </p:nvSpPr>
        <p:spPr>
          <a:xfrm>
            <a:off x="152705" y="6409944"/>
            <a:ext cx="266913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3" name="Text 10"/>
          <p:cNvSpPr txBox="1"/>
          <p:nvPr/>
        </p:nvSpPr>
        <p:spPr>
          <a:xfrm>
            <a:off x="3088843" y="6409944"/>
            <a:ext cx="488563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4" name="Text 11"/>
          <p:cNvSpPr txBox="1"/>
          <p:nvPr/>
        </p:nvSpPr>
        <p:spPr>
          <a:xfrm>
            <a:off x="11544300" y="6409944"/>
            <a:ext cx="53309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of 28</a:t>
            </a:r>
            <a:endParaRPr lang="en-US" sz="11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0" y="6409944"/>
            <a:ext cx="761695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0634" y="6500470"/>
            <a:ext cx="1127455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Concepts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3771900" y="2681021"/>
            <a:ext cx="4267505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188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Code Maintenance</a:t>
            </a:r>
            <a:endParaRPr lang="en-US" sz="1880" dirty="0"/>
          </a:p>
        </p:txBody>
      </p:sp>
      <p:sp>
        <p:nvSpPr>
          <p:cNvPr id="8" name="Shape 5"/>
          <p:cNvSpPr/>
          <p:nvPr/>
        </p:nvSpPr>
        <p:spPr>
          <a:xfrm>
            <a:off x="3619195" y="3161995"/>
            <a:ext cx="4572000" cy="9144"/>
          </a:xfrm>
          <a:prstGeom prst="rect">
            <a:avLst/>
          </a:prstGeom>
          <a:solidFill>
            <a:srgbClr val="E3EAF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771900" y="3380537"/>
            <a:ext cx="4572000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1880" dirty="0">
                <a:solidFill>
                  <a:srgbClr val="8B9B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Human-in-the-Loop </a:t>
            </a:r>
            <a:endParaRPr lang="en-US" sz="1880" dirty="0"/>
          </a:p>
        </p:txBody>
      </p:sp>
      <p:sp>
        <p:nvSpPr>
          <p:cNvPr id="10" name="Shape 7"/>
          <p:cNvSpPr/>
          <p:nvPr/>
        </p:nvSpPr>
        <p:spPr>
          <a:xfrm>
            <a:off x="3771900" y="3862426"/>
            <a:ext cx="4572000" cy="9144"/>
          </a:xfrm>
          <a:prstGeom prst="rect">
            <a:avLst/>
          </a:prstGeom>
          <a:solidFill>
            <a:srgbClr val="E3EAF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771900" y="4080967"/>
            <a:ext cx="4572000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1880" dirty="0">
                <a:solidFill>
                  <a:srgbClr val="8B9B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Documentation</a:t>
            </a:r>
            <a:endParaRPr lang="en-US" sz="1880" dirty="0"/>
          </a:p>
        </p:txBody>
      </p:sp>
      <p:sp>
        <p:nvSpPr>
          <p:cNvPr id="12" name="Shape 9"/>
          <p:cNvSpPr/>
          <p:nvPr/>
        </p:nvSpPr>
        <p:spPr>
          <a:xfrm>
            <a:off x="3771900" y="4562856"/>
            <a:ext cx="4572000" cy="9144"/>
          </a:xfrm>
          <a:prstGeom prst="rect">
            <a:avLst/>
          </a:prstGeom>
          <a:solidFill>
            <a:srgbClr val="E3EAF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52705" y="6409944"/>
            <a:ext cx="266913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4" name="Text 11"/>
          <p:cNvSpPr txBox="1"/>
          <p:nvPr/>
        </p:nvSpPr>
        <p:spPr>
          <a:xfrm>
            <a:off x="3088843" y="6409944"/>
            <a:ext cx="488563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5" name="Text 12"/>
          <p:cNvSpPr txBox="1"/>
          <p:nvPr/>
        </p:nvSpPr>
        <p:spPr>
          <a:xfrm>
            <a:off x="11544300" y="6409944"/>
            <a:ext cx="53309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of 28</a:t>
            </a:r>
            <a:endParaRPr lang="en-US" sz="11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0" y="6409944"/>
            <a:ext cx="761695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9830" y="1527962"/>
            <a:ext cx="3810305" cy="3810305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0634" y="6500470"/>
            <a:ext cx="1127455" cy="2670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Copilot Workflows for Code Maintenance</a:t>
            </a:r>
            <a:endParaRPr lang="en-US" sz="3300" dirty="0"/>
          </a:p>
        </p:txBody>
      </p:sp>
      <p:sp>
        <p:nvSpPr>
          <p:cNvPr id="8" name="Text 4"/>
          <p:cNvSpPr txBox="1"/>
          <p:nvPr/>
        </p:nvSpPr>
        <p:spPr>
          <a:xfrm>
            <a:off x="476402" y="1308506"/>
            <a:ext cx="6011266" cy="1117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Analytical scripts often start as long, single-file prototypes with slow row loops, no runtime checks, and zero tests</a:t>
            </a:r>
            <a:endParaRPr lang="en-US" sz="1730" dirty="0"/>
          </a:p>
        </p:txBody>
      </p:sp>
      <p:sp>
        <p:nvSpPr>
          <p:cNvPr id="9" name="Text 5"/>
          <p:cNvSpPr txBox="1"/>
          <p:nvPr/>
        </p:nvSpPr>
        <p:spPr>
          <a:xfrm>
            <a:off x="476402" y="2559406"/>
            <a:ext cx="6011266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Inline Chat to split monolithic functions and replace loops with vectorized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pandas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or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numpy</a:t>
            </a:r>
            <a:endParaRPr lang="en-US" sz="1730" dirty="0"/>
          </a:p>
        </p:txBody>
      </p:sp>
      <p:sp>
        <p:nvSpPr>
          <p:cNvPr id="10" name="Text 6"/>
          <p:cNvSpPr txBox="1"/>
          <p:nvPr/>
        </p:nvSpPr>
        <p:spPr>
          <a:xfrm>
            <a:off x="476402" y="3438144"/>
            <a:ext cx="6011266" cy="1117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Inline Chat or ghost text to insert defensive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ValueError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guards right above and below numerical calculations</a:t>
            </a:r>
            <a:endParaRPr lang="en-US" sz="1730" dirty="0"/>
          </a:p>
        </p:txBody>
      </p:sp>
      <p:sp>
        <p:nvSpPr>
          <p:cNvPr id="11" name="Text 7"/>
          <p:cNvSpPr txBox="1"/>
          <p:nvPr/>
        </p:nvSpPr>
        <p:spPr>
          <a:xfrm>
            <a:off x="476402" y="4689043"/>
            <a:ext cx="6011266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Copilot Chat to generate a complete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pytest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suite that tests both normal math and every new assertion</a:t>
            </a:r>
            <a:endParaRPr lang="en-US" sz="1730" dirty="0"/>
          </a:p>
        </p:txBody>
      </p:sp>
      <p:sp>
        <p:nvSpPr>
          <p:cNvPr id="12" name="Text 8"/>
          <p:cNvSpPr txBox="1"/>
          <p:nvPr/>
        </p:nvSpPr>
        <p:spPr>
          <a:xfrm>
            <a:off x="152705" y="6409944"/>
            <a:ext cx="266913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3" name="Text 9"/>
          <p:cNvSpPr txBox="1"/>
          <p:nvPr/>
        </p:nvSpPr>
        <p:spPr>
          <a:xfrm>
            <a:off x="3088843" y="6409944"/>
            <a:ext cx="488563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4" name="Text 10"/>
          <p:cNvSpPr txBox="1"/>
          <p:nvPr/>
        </p:nvSpPr>
        <p:spPr>
          <a:xfrm>
            <a:off x="11544300" y="6409944"/>
            <a:ext cx="53309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of 28</a:t>
            </a:r>
            <a:endParaRPr lang="en-US" sz="11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0" y="6409944"/>
            <a:ext cx="761695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0634" y="6500470"/>
            <a:ext cx="1127455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Refactoring and Optimizing with Inline Chat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476402" y="1251814"/>
            <a:ext cx="5410505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195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Splitting a Long Function</a:t>
            </a:r>
            <a:endParaRPr lang="en-US" sz="1950" dirty="0"/>
          </a:p>
        </p:txBody>
      </p:sp>
      <p:sp>
        <p:nvSpPr>
          <p:cNvPr id="8" name="Text 5"/>
          <p:cNvSpPr txBox="1"/>
          <p:nvPr/>
        </p:nvSpPr>
        <p:spPr>
          <a:xfrm>
            <a:off x="476402" y="1857146"/>
            <a:ext cx="54095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Highlight the 80-line function in VS Code and press CMD+I (Mac) or CTRL+I (Windows)</a:t>
            </a:r>
            <a:endParaRPr lang="en-US" sz="1580" dirty="0"/>
          </a:p>
        </p:txBody>
      </p:sp>
      <p:sp>
        <p:nvSpPr>
          <p:cNvPr id="9" name="Text 6"/>
          <p:cNvSpPr txBox="1"/>
          <p:nvPr/>
        </p:nvSpPr>
        <p:spPr>
          <a:xfrm>
            <a:off x="476402" y="2630729"/>
            <a:ext cx="5409590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Prompt: “Split this into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filter_active_accounts(df)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compute_band_rates(df)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type hints. Do not change the math or column names.”</a:t>
            </a:r>
            <a:endParaRPr lang="en-US" sz="1580" dirty="0"/>
          </a:p>
        </p:txBody>
      </p:sp>
      <p:sp>
        <p:nvSpPr>
          <p:cNvPr id="10" name="Text 7"/>
          <p:cNvSpPr txBox="1"/>
          <p:nvPr/>
        </p:nvSpPr>
        <p:spPr>
          <a:xfrm>
            <a:off x="476402" y="4049878"/>
            <a:ext cx="54095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the side-by-side diff in the editor before clicking Accept</a:t>
            </a:r>
            <a:endParaRPr lang="en-US" sz="1580" dirty="0"/>
          </a:p>
        </p:txBody>
      </p:sp>
      <p:sp>
        <p:nvSpPr>
          <p:cNvPr id="11" name="Text 8"/>
          <p:cNvSpPr txBox="1"/>
          <p:nvPr/>
        </p:nvSpPr>
        <p:spPr>
          <a:xfrm>
            <a:off x="6229807" y="1251814"/>
            <a:ext cx="5410505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195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Vectorizing a Slow Loop</a:t>
            </a:r>
            <a:endParaRPr lang="en-US" sz="1950" dirty="0"/>
          </a:p>
        </p:txBody>
      </p:sp>
      <p:sp>
        <p:nvSpPr>
          <p:cNvPr id="12" name="Text 9"/>
          <p:cNvSpPr txBox="1"/>
          <p:nvPr/>
        </p:nvSpPr>
        <p:spPr>
          <a:xfrm>
            <a:off x="6229807" y="1857146"/>
            <a:ext cx="5409590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Highlight a slow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for idx, row in df.iterrows():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block and open Inline Chat</a:t>
            </a:r>
            <a:endParaRPr lang="en-US" sz="1580" dirty="0"/>
          </a:p>
        </p:txBody>
      </p:sp>
      <p:sp>
        <p:nvSpPr>
          <p:cNvPr id="13" name="Text 10"/>
          <p:cNvSpPr txBox="1"/>
          <p:nvPr/>
        </p:nvSpPr>
        <p:spPr>
          <a:xfrm>
            <a:off x="6229807" y="2633472"/>
            <a:ext cx="540959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Prompt: “Replace this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iterrows()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loop with vectorized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np.select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or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pandas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operations that produce identical values, including for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NaN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rows.”</a:t>
            </a:r>
            <a:endParaRPr lang="en-US" sz="1580" dirty="0"/>
          </a:p>
        </p:txBody>
      </p:sp>
      <p:sp>
        <p:nvSpPr>
          <p:cNvPr id="14" name="Text 11"/>
          <p:cNvSpPr txBox="1"/>
          <p:nvPr/>
        </p:nvSpPr>
        <p:spPr>
          <a:xfrm>
            <a:off x="6229807" y="3736238"/>
            <a:ext cx="5409590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/tests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a parity test comparing the old function and new function on 20 synthetic rows</a:t>
            </a:r>
            <a:endParaRPr lang="en-US" sz="1580" dirty="0"/>
          </a:p>
        </p:txBody>
      </p:sp>
      <p:sp>
        <p:nvSpPr>
          <p:cNvPr id="15" name="Text 12"/>
          <p:cNvSpPr txBox="1"/>
          <p:nvPr/>
        </p:nvSpPr>
        <p:spPr>
          <a:xfrm>
            <a:off x="152705" y="6409944"/>
            <a:ext cx="266913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6" name="Text 13"/>
          <p:cNvSpPr txBox="1"/>
          <p:nvPr/>
        </p:nvSpPr>
        <p:spPr>
          <a:xfrm>
            <a:off x="3088843" y="6409944"/>
            <a:ext cx="488563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7" name="Text 14"/>
          <p:cNvSpPr txBox="1"/>
          <p:nvPr/>
        </p:nvSpPr>
        <p:spPr>
          <a:xfrm>
            <a:off x="11544300" y="6409944"/>
            <a:ext cx="53309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of 28</a:t>
            </a:r>
            <a:endParaRPr lang="en-US" sz="11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476402" y="1156716"/>
            <a:ext cx="3594506" cy="3554273"/>
          </a:xfrm>
          <a:prstGeom prst="roundRect">
            <a:avLst>
              <a:gd name="adj" fmla="val 3756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76402" y="1156716"/>
            <a:ext cx="3594506" cy="57607"/>
          </a:xfrm>
          <a:prstGeom prst="rect">
            <a:avLst/>
          </a:prstGeom>
          <a:solidFill>
            <a:srgbClr val="1E71D6"/>
          </a:solidFill>
          <a:ln/>
        </p:spPr>
      </p:sp>
      <p:sp>
        <p:nvSpPr>
          <p:cNvPr id="6" name="Shape 4"/>
          <p:cNvSpPr/>
          <p:nvPr/>
        </p:nvSpPr>
        <p:spPr>
          <a:xfrm>
            <a:off x="4261104" y="1156716"/>
            <a:ext cx="3594506" cy="3554273"/>
          </a:xfrm>
          <a:prstGeom prst="roundRect">
            <a:avLst>
              <a:gd name="adj" fmla="val 3756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4261104" y="1156716"/>
            <a:ext cx="3594506" cy="57607"/>
          </a:xfrm>
          <a:prstGeom prst="rect">
            <a:avLst/>
          </a:prstGeom>
          <a:solidFill>
            <a:srgbClr val="1E71D6"/>
          </a:solidFill>
          <a:ln/>
        </p:spPr>
      </p:sp>
      <p:sp>
        <p:nvSpPr>
          <p:cNvPr id="8" name="Shape 6"/>
          <p:cNvSpPr/>
          <p:nvPr/>
        </p:nvSpPr>
        <p:spPr>
          <a:xfrm>
            <a:off x="8045806" y="1156716"/>
            <a:ext cx="3594506" cy="3554273"/>
          </a:xfrm>
          <a:prstGeom prst="roundRect">
            <a:avLst>
              <a:gd name="adj" fmla="val 3756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8045806" y="1156716"/>
            <a:ext cx="3594506" cy="57607"/>
          </a:xfrm>
          <a:prstGeom prst="rect">
            <a:avLst/>
          </a:prstGeom>
          <a:solidFill>
            <a:srgbClr val="1E71D6"/>
          </a:solidFill>
          <a:ln/>
        </p:spPr>
      </p:sp>
      <p:sp>
        <p:nvSpPr>
          <p:cNvPr id="10" name="Shape 8"/>
          <p:cNvSpPr/>
          <p:nvPr/>
        </p:nvSpPr>
        <p:spPr>
          <a:xfrm>
            <a:off x="11430000" y="6409944"/>
            <a:ext cx="761695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0634" y="6500470"/>
            <a:ext cx="1127455" cy="26700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Prompting Copilot for Defensive Assertions</a:t>
            </a:r>
            <a:endParaRPr lang="en-US" sz="3300" dirty="0"/>
          </a:p>
        </p:txBody>
      </p:sp>
      <p:sp>
        <p:nvSpPr>
          <p:cNvPr id="13" name="Text 10"/>
          <p:cNvSpPr txBox="1"/>
          <p:nvPr/>
        </p:nvSpPr>
        <p:spPr>
          <a:xfrm>
            <a:off x="676656" y="1366114"/>
            <a:ext cx="3193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Schema Guard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76656" y="1846174"/>
            <a:ext cx="3193999" cy="929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the top of your function in Inline Chat and ask Copilot to check required columns.</a:t>
            </a:r>
            <a:endParaRPr lang="en-US" sz="1580" dirty="0"/>
          </a:p>
        </p:txBody>
      </p:sp>
      <p:sp>
        <p:nvSpPr>
          <p:cNvPr id="15" name="Text 12"/>
          <p:cNvSpPr txBox="1"/>
          <p:nvPr/>
        </p:nvSpPr>
        <p:spPr>
          <a:xfrm>
            <a:off x="676656" y="2890418"/>
            <a:ext cx="3193999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Raise a </a:t>
            </a:r>
            <a:pPr algn="l" indent="0" marL="0">
              <a:lnSpc>
                <a:spcPts val="244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ValueError</a:t>
            </a:r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listing any missing column names before running calculations.</a:t>
            </a:r>
            <a:endParaRPr lang="en-US" sz="1580" dirty="0"/>
          </a:p>
        </p:txBody>
      </p:sp>
      <p:sp>
        <p:nvSpPr>
          <p:cNvPr id="16" name="Text 13"/>
          <p:cNvSpPr txBox="1"/>
          <p:nvPr/>
        </p:nvSpPr>
        <p:spPr>
          <a:xfrm>
            <a:off x="4460443" y="1366114"/>
            <a:ext cx="319399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Grain and Denominator Guard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4460443" y="2211934"/>
            <a:ext cx="3193999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Copilot to assert that </a:t>
            </a:r>
            <a:pPr algn="l" indent="0" marL="0">
              <a:lnSpc>
                <a:spcPts val="244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(account_id, perf_month)</a:t>
            </a:r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has no duplicate rows.</a:t>
            </a:r>
            <a:endParaRPr lang="en-US" sz="1580" dirty="0"/>
          </a:p>
        </p:txBody>
      </p:sp>
      <p:sp>
        <p:nvSpPr>
          <p:cNvPr id="18" name="Text 15"/>
          <p:cNvSpPr txBox="1"/>
          <p:nvPr/>
        </p:nvSpPr>
        <p:spPr>
          <a:xfrm>
            <a:off x="4460443" y="3259836"/>
            <a:ext cx="3193999" cy="1250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Raise a </a:t>
            </a:r>
            <a:pPr algn="l" indent="0" marL="0">
              <a:lnSpc>
                <a:spcPts val="244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ValueError</a:t>
            </a:r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if filtering out </a:t>
            </a:r>
            <a:pPr algn="l" indent="0" marL="0">
              <a:lnSpc>
                <a:spcPts val="244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charged_off</a:t>
            </a:r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rows leaves an empty denominator (</a:t>
            </a:r>
            <a:pPr algn="l" indent="0" marL="0">
              <a:lnSpc>
                <a:spcPts val="244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len(active) == 0</a:t>
            </a:r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).</a:t>
            </a:r>
            <a:endParaRPr lang="en-US" sz="1580" dirty="0"/>
          </a:p>
        </p:txBody>
      </p:sp>
      <p:sp>
        <p:nvSpPr>
          <p:cNvPr id="19" name="Text 16"/>
          <p:cNvSpPr txBox="1"/>
          <p:nvPr/>
        </p:nvSpPr>
        <p:spPr>
          <a:xfrm>
            <a:off x="8245145" y="1366114"/>
            <a:ext cx="3193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Statistical Output Guard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8245145" y="1846174"/>
            <a:ext cx="3193999" cy="929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Place your cursor after the rate calculation and write a comment for ghost text.</a:t>
            </a:r>
            <a:endParaRPr lang="en-US" sz="1580" dirty="0"/>
          </a:p>
        </p:txBody>
      </p:sp>
      <p:sp>
        <p:nvSpPr>
          <p:cNvPr id="21" name="Text 18"/>
          <p:cNvSpPr txBox="1"/>
          <p:nvPr/>
        </p:nvSpPr>
        <p:spPr>
          <a:xfrm>
            <a:off x="8245145" y="2890418"/>
            <a:ext cx="3193999" cy="1250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Raise a </a:t>
            </a:r>
            <a:pPr algn="l" indent="0" marL="0">
              <a:lnSpc>
                <a:spcPts val="244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ValueError</a:t>
            </a:r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if any computed delinquency or loss rate is </a:t>
            </a:r>
            <a:pPr algn="l" indent="0" marL="0">
              <a:lnSpc>
                <a:spcPts val="244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NaN</a:t>
            </a:r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below </a:t>
            </a:r>
            <a:pPr algn="l" indent="0" marL="0">
              <a:lnSpc>
                <a:spcPts val="244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0.0</a:t>
            </a:r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or above </a:t>
            </a:r>
            <a:pPr algn="l" indent="0" marL="0">
              <a:lnSpc>
                <a:spcPts val="244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1.0</a:t>
            </a:r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580" dirty="0"/>
          </a:p>
        </p:txBody>
      </p:sp>
      <p:sp>
        <p:nvSpPr>
          <p:cNvPr id="22" name="Text 19"/>
          <p:cNvSpPr txBox="1"/>
          <p:nvPr/>
        </p:nvSpPr>
        <p:spPr>
          <a:xfrm>
            <a:off x="152705" y="6409944"/>
            <a:ext cx="266913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23" name="Text 20"/>
          <p:cNvSpPr txBox="1"/>
          <p:nvPr/>
        </p:nvSpPr>
        <p:spPr>
          <a:xfrm>
            <a:off x="3088843" y="6409944"/>
            <a:ext cx="488563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24" name="Text 21"/>
          <p:cNvSpPr txBox="1"/>
          <p:nvPr/>
        </p:nvSpPr>
        <p:spPr>
          <a:xfrm>
            <a:off x="11544300" y="6409944"/>
            <a:ext cx="53309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of 28</a:t>
            </a:r>
            <a:endParaRPr lang="en-US" sz="11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476402" y="2283257"/>
            <a:ext cx="11162995" cy="1848002"/>
          </a:xfrm>
          <a:prstGeom prst="roundRect">
            <a:avLst>
              <a:gd name="adj" fmla="val 4107"/>
            </a:avLst>
          </a:prstGeom>
          <a:solidFill>
            <a:srgbClr val="F2F8FF"/>
          </a:solidFill>
          <a:ln/>
        </p:spPr>
      </p:sp>
      <p:sp>
        <p:nvSpPr>
          <p:cNvPr id="5" name="Shape 3"/>
          <p:cNvSpPr/>
          <p:nvPr/>
        </p:nvSpPr>
        <p:spPr>
          <a:xfrm>
            <a:off x="476402" y="4321454"/>
            <a:ext cx="11162995" cy="1655978"/>
          </a:xfrm>
          <a:prstGeom prst="rect">
            <a:avLst/>
          </a:prstGeom>
          <a:solidFill>
            <a:srgbClr val="EFF3F7"/>
          </a:solidFill>
          <a:ln/>
        </p:spPr>
      </p:sp>
      <p:sp>
        <p:nvSpPr>
          <p:cNvPr id="6" name="Shape 4"/>
          <p:cNvSpPr/>
          <p:nvPr/>
        </p:nvSpPr>
        <p:spPr>
          <a:xfrm>
            <a:off x="476402" y="4321454"/>
            <a:ext cx="38405" cy="1655978"/>
          </a:xfrm>
          <a:prstGeom prst="rect">
            <a:avLst/>
          </a:prstGeom>
          <a:solidFill>
            <a:srgbClr val="1A7F37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0" y="6409944"/>
            <a:ext cx="761695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0634" y="6500470"/>
            <a:ext cx="1127455" cy="2670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Generating Comprehensive </a:t>
            </a:r>
            <a:pPr algn="ctr" indent="0" marL="0">
              <a:lnSpc>
                <a:spcPts val="5280"/>
              </a:lnSpc>
              <a:buNone/>
            </a:pPr>
            <a:r>
              <a:rPr lang="en-US" sz="3140" b="1" dirty="0">
                <a:solidFill>
                  <a:srgbClr val="082445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pytest</a:t>
            </a:r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Suites with </a:t>
            </a:r>
            <a:pPr algn="ctr" indent="0" marL="0">
              <a:lnSpc>
                <a:spcPts val="5280"/>
              </a:lnSpc>
              <a:buNone/>
            </a:pPr>
            <a:r>
              <a:rPr lang="en-US" sz="3140" b="1" dirty="0">
                <a:solidFill>
                  <a:srgbClr val="082445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/tests</a:t>
            </a:r>
            <a:endParaRPr lang="en-US" sz="3300" dirty="0"/>
          </a:p>
        </p:txBody>
      </p:sp>
      <p:sp>
        <p:nvSpPr>
          <p:cNvPr id="10" name="Text 7"/>
          <p:cNvSpPr txBox="1"/>
          <p:nvPr/>
        </p:nvSpPr>
        <p:spPr>
          <a:xfrm>
            <a:off x="476402" y="1308506"/>
            <a:ext cx="11162995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Typing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/tests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alone often produces only one happy-path test; always pair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/tests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explicit edge cases and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pytest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features</a:t>
            </a:r>
            <a:endParaRPr lang="en-US" sz="1730" dirty="0"/>
          </a:p>
        </p:txBody>
      </p:sp>
      <p:sp>
        <p:nvSpPr>
          <p:cNvPr id="11" name="Text 8"/>
          <p:cNvSpPr txBox="1"/>
          <p:nvPr/>
        </p:nvSpPr>
        <p:spPr>
          <a:xfrm>
            <a:off x="629107" y="2435047"/>
            <a:ext cx="10858500" cy="1543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/tests #file src/monitoring/risk_rollup.py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Create tests/test_risk_rollup.py using pytest: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1. Add a @pytest.fixture with 8 synthetic account rows covering Prime, Near-Prime, and Subprime, including 1 charged_off row and 1 null balance.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2. Use @pytest.mark.parametrize to test normal rate calculations across risk bands.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3. Use pytest.raises(ValueError) to test missing required columns, duplicate (account_id, perf_month) keys, an all-charged-off denominator, and a rate outside [0, 1].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76402" y="4122115"/>
            <a:ext cx="11162995" cy="9144"/>
          </a:xfrm>
          <a:prstGeom prst="rect">
            <a:avLst/>
          </a:prstGeom>
          <a:solidFill>
            <a:srgbClr val="D5E4F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85800" y="4435754"/>
            <a:ext cx="10782605" cy="244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1A7F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Tip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4898441"/>
            <a:ext cx="10782605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Add “Use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@pytest.fixture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synthetic rows and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pytest.raises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all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ValueError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guards” to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.github/copilot-instructions.md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so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/tests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follows this standard automatically.</a:t>
            </a:r>
            <a:endParaRPr lang="en-US" sz="1730" dirty="0"/>
          </a:p>
        </p:txBody>
      </p:sp>
      <p:sp>
        <p:nvSpPr>
          <p:cNvPr id="15" name="Text 12"/>
          <p:cNvSpPr txBox="1"/>
          <p:nvPr/>
        </p:nvSpPr>
        <p:spPr>
          <a:xfrm>
            <a:off x="152705" y="6409944"/>
            <a:ext cx="266913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6" name="Text 13"/>
          <p:cNvSpPr txBox="1"/>
          <p:nvPr/>
        </p:nvSpPr>
        <p:spPr>
          <a:xfrm>
            <a:off x="3088843" y="6409944"/>
            <a:ext cx="488563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7" name="Text 14"/>
          <p:cNvSpPr txBox="1"/>
          <p:nvPr/>
        </p:nvSpPr>
        <p:spPr>
          <a:xfrm>
            <a:off x="11544300" y="6409944"/>
            <a:ext cx="53309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of 28</a:t>
            </a:r>
            <a:endParaRPr lang="en-US" sz="11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476402" y="1910182"/>
            <a:ext cx="11162995" cy="4895698"/>
          </a:xfrm>
          <a:prstGeom prst="roundRect">
            <a:avLst>
              <a:gd name="adj" fmla="val 1550"/>
            </a:avLst>
          </a:prstGeom>
          <a:solidFill>
            <a:srgbClr val="F2F8FF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6409944"/>
            <a:ext cx="761695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0634" y="6500470"/>
            <a:ext cx="1127455" cy="2670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Demo: Refactoring, Asserting, and Testing with Copilot</a:t>
            </a:r>
            <a:endParaRPr lang="en-US" sz="3300" dirty="0"/>
          </a:p>
        </p:txBody>
      </p:sp>
      <p:sp>
        <p:nvSpPr>
          <p:cNvPr id="8" name="Text 5"/>
          <p:cNvSpPr txBox="1"/>
          <p:nvPr/>
        </p:nvSpPr>
        <p:spPr>
          <a:xfrm>
            <a:off x="476402" y="1308506"/>
            <a:ext cx="11162995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Font typeface="+mj-lt"/>
              <a:buAutoNum type="arabicPeriod" startAt="1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VS Code, create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risk_rollup.py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paste this unguarded, loop-heavy function:</a:t>
            </a:r>
            <a:endParaRPr lang="en-US" sz="1730" dirty="0"/>
          </a:p>
        </p:txBody>
      </p:sp>
      <p:sp>
        <p:nvSpPr>
          <p:cNvPr id="9" name="Text 6"/>
          <p:cNvSpPr txBox="1"/>
          <p:nvPr/>
        </p:nvSpPr>
        <p:spPr>
          <a:xfrm>
            <a:off x="629107" y="2062886"/>
            <a:ext cx="10858500" cy="4591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import pandas as pd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def calc_delinquency(df):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   rates = {}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   for band in df["risk_band"].unique():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       sub = df[df["risk_band"] == band]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       active = 0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       bad = 0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       for _, row in sub.iterrows():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           if row["status"] != "charged_off":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               active += 1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               if row["dpd"] &gt;= 30: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                   bad += 1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       rates[band] = bad / active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   return pd.Series(rates, name="dlq_30_rate")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76402" y="6796735"/>
            <a:ext cx="11162995" cy="9144"/>
          </a:xfrm>
          <a:prstGeom prst="rect">
            <a:avLst/>
          </a:prstGeom>
          <a:solidFill>
            <a:srgbClr val="D5E4F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52705" y="6409944"/>
            <a:ext cx="266913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2" name="Text 9"/>
          <p:cNvSpPr txBox="1"/>
          <p:nvPr/>
        </p:nvSpPr>
        <p:spPr>
          <a:xfrm>
            <a:off x="3088843" y="6409944"/>
            <a:ext cx="488563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3" name="Text 10"/>
          <p:cNvSpPr txBox="1"/>
          <p:nvPr/>
        </p:nvSpPr>
        <p:spPr>
          <a:xfrm>
            <a:off x="11544300" y="6409944"/>
            <a:ext cx="53309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of 28</a:t>
            </a:r>
            <a:endParaRPr lang="en-US" sz="11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0" y="6409944"/>
            <a:ext cx="761695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0634" y="6500470"/>
            <a:ext cx="1127455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Concepts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3771900" y="2681021"/>
            <a:ext cx="4572000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1880" dirty="0">
                <a:solidFill>
                  <a:srgbClr val="8B9B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Code Maintenance</a:t>
            </a:r>
            <a:endParaRPr lang="en-US" sz="1880" dirty="0"/>
          </a:p>
        </p:txBody>
      </p:sp>
      <p:sp>
        <p:nvSpPr>
          <p:cNvPr id="8" name="Shape 5"/>
          <p:cNvSpPr/>
          <p:nvPr/>
        </p:nvSpPr>
        <p:spPr>
          <a:xfrm>
            <a:off x="3771900" y="3161995"/>
            <a:ext cx="4572000" cy="9144"/>
          </a:xfrm>
          <a:prstGeom prst="rect">
            <a:avLst/>
          </a:prstGeom>
          <a:solidFill>
            <a:srgbClr val="E3EAF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771900" y="3380537"/>
            <a:ext cx="4267505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188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Human-in-the-Loop</a:t>
            </a:r>
            <a:endParaRPr lang="en-US" sz="1880" dirty="0"/>
          </a:p>
        </p:txBody>
      </p:sp>
      <p:sp>
        <p:nvSpPr>
          <p:cNvPr id="10" name="Shape 7"/>
          <p:cNvSpPr/>
          <p:nvPr/>
        </p:nvSpPr>
        <p:spPr>
          <a:xfrm>
            <a:off x="3619195" y="3862426"/>
            <a:ext cx="4572000" cy="9144"/>
          </a:xfrm>
          <a:prstGeom prst="rect">
            <a:avLst/>
          </a:prstGeom>
          <a:solidFill>
            <a:srgbClr val="E3EAF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771900" y="4080967"/>
            <a:ext cx="4572000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1880" dirty="0">
                <a:solidFill>
                  <a:srgbClr val="8B9B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Documentation</a:t>
            </a:r>
            <a:endParaRPr lang="en-US" sz="1880" dirty="0"/>
          </a:p>
        </p:txBody>
      </p:sp>
      <p:sp>
        <p:nvSpPr>
          <p:cNvPr id="12" name="Shape 9"/>
          <p:cNvSpPr/>
          <p:nvPr/>
        </p:nvSpPr>
        <p:spPr>
          <a:xfrm>
            <a:off x="3771900" y="4562856"/>
            <a:ext cx="4572000" cy="9144"/>
          </a:xfrm>
          <a:prstGeom prst="rect">
            <a:avLst/>
          </a:prstGeom>
          <a:solidFill>
            <a:srgbClr val="E3EAF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52705" y="6409944"/>
            <a:ext cx="266913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4" name="Text 11"/>
          <p:cNvSpPr txBox="1"/>
          <p:nvPr/>
        </p:nvSpPr>
        <p:spPr>
          <a:xfrm>
            <a:off x="3088843" y="6409944"/>
            <a:ext cx="488563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5" name="Text 12"/>
          <p:cNvSpPr txBox="1"/>
          <p:nvPr/>
        </p:nvSpPr>
        <p:spPr>
          <a:xfrm>
            <a:off x="11544300" y="6409944"/>
            <a:ext cx="53309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of 28</a:t>
            </a:r>
            <a:endParaRPr lang="en-US" sz="11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402568" y="6409944"/>
            <a:ext cx="789127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1620" y="1118311"/>
            <a:ext cx="9052560" cy="509229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7774" y="6500470"/>
            <a:ext cx="1127455" cy="2670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Driving Copilot Agent Mode with Human Gates</a:t>
            </a:r>
            <a:endParaRPr lang="en-US" sz="3300" dirty="0"/>
          </a:p>
        </p:txBody>
      </p:sp>
      <p:sp>
        <p:nvSpPr>
          <p:cNvPr id="8" name="Text 4"/>
          <p:cNvSpPr txBox="1"/>
          <p:nvPr/>
        </p:nvSpPr>
        <p:spPr>
          <a:xfrm>
            <a:off x="152705" y="6409944"/>
            <a:ext cx="266273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9" name="Text 5"/>
          <p:cNvSpPr txBox="1"/>
          <p:nvPr/>
        </p:nvSpPr>
        <p:spPr>
          <a:xfrm>
            <a:off x="3081528" y="6409944"/>
            <a:ext cx="487375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0" name="Text 6"/>
          <p:cNvSpPr txBox="1"/>
          <p:nvPr/>
        </p:nvSpPr>
        <p:spPr>
          <a:xfrm>
            <a:off x="11516868" y="6409944"/>
            <a:ext cx="560527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of 28</a:t>
            </a:r>
            <a:endParaRPr lang="en-US" sz="11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0" y="6409944"/>
            <a:ext cx="761695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0634" y="6500470"/>
            <a:ext cx="1127455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Autopilot Prompt vs Plan Mode + Interactive Prompt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476402" y="1251814"/>
            <a:ext cx="5410505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195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Unconstrained Autopilot Prompt (Risky)</a:t>
            </a:r>
            <a:endParaRPr lang="en-US" sz="1950" dirty="0"/>
          </a:p>
        </p:txBody>
      </p:sp>
      <p:sp>
        <p:nvSpPr>
          <p:cNvPr id="8" name="Text 5"/>
          <p:cNvSpPr txBox="1"/>
          <p:nvPr/>
        </p:nvSpPr>
        <p:spPr>
          <a:xfrm>
            <a:off x="476402" y="1857146"/>
            <a:ext cx="54095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“Clean up our monitoring scripts, reorganize the files, and fix any issues you see.”</a:t>
            </a:r>
            <a:endParaRPr lang="en-US" sz="1580" dirty="0"/>
          </a:p>
        </p:txBody>
      </p:sp>
      <p:sp>
        <p:nvSpPr>
          <p:cNvPr id="9" name="Text 6"/>
          <p:cNvSpPr txBox="1"/>
          <p:nvPr/>
        </p:nvSpPr>
        <p:spPr>
          <a:xfrm>
            <a:off x="476402" y="2630729"/>
            <a:ext cx="54095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Edits 6 files at once, renames public functions, and alters metric filters without pausing</a:t>
            </a:r>
            <a:endParaRPr lang="en-US" sz="1580" dirty="0"/>
          </a:p>
        </p:txBody>
      </p:sp>
      <p:sp>
        <p:nvSpPr>
          <p:cNvPr id="10" name="Text 7"/>
          <p:cNvSpPr txBox="1"/>
          <p:nvPr/>
        </p:nvSpPr>
        <p:spPr>
          <a:xfrm>
            <a:off x="476402" y="3404311"/>
            <a:ext cx="54095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Leaves you with a sprawling diff where a formula bug can hide inside formatting changes</a:t>
            </a:r>
            <a:endParaRPr lang="en-US" sz="1580" dirty="0"/>
          </a:p>
        </p:txBody>
      </p:sp>
      <p:sp>
        <p:nvSpPr>
          <p:cNvPr id="11" name="Text 8"/>
          <p:cNvSpPr txBox="1"/>
          <p:nvPr/>
        </p:nvSpPr>
        <p:spPr>
          <a:xfrm>
            <a:off x="6229807" y="1251814"/>
            <a:ext cx="5410505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195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Mode + Interactive Prompt (Controlled)</a:t>
            </a:r>
            <a:endParaRPr lang="en-US" sz="1950" dirty="0"/>
          </a:p>
        </p:txBody>
      </p:sp>
      <p:sp>
        <p:nvSpPr>
          <p:cNvPr id="12" name="Text 9"/>
          <p:cNvSpPr txBox="1"/>
          <p:nvPr/>
        </p:nvSpPr>
        <p:spPr>
          <a:xfrm>
            <a:off x="6229807" y="1857146"/>
            <a:ext cx="54095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Switch the Agent mode menu (speech bubble icon) to </a:t>
            </a:r>
            <a:pPr algn="l" indent="0" marL="0">
              <a:lnSpc>
                <a:spcPts val="2520"/>
              </a:lnSpc>
              <a:buNone/>
            </a:pPr>
            <a:r>
              <a:rPr lang="en-US" sz="158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(or keep </a:t>
            </a:r>
            <a:pPr algn="l" indent="0" marL="0">
              <a:lnSpc>
                <a:spcPts val="2520"/>
              </a:lnSpc>
              <a:buNone/>
            </a:pPr>
            <a:r>
              <a:rPr lang="en-US" sz="158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</a:t>
            </a:r>
            <a:pPr algn="l" indent="0" marL="0">
              <a:lnSpc>
                <a:spcPts val="2520"/>
              </a:lnSpc>
              <a:buNone/>
            </a:pPr>
            <a:r>
              <a:rPr lang="en-US" sz="158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permissions)</a:t>
            </a:r>
            <a:endParaRPr lang="en-US" sz="1580" dirty="0"/>
          </a:p>
        </p:txBody>
      </p:sp>
      <p:sp>
        <p:nvSpPr>
          <p:cNvPr id="13" name="Text 10"/>
          <p:cNvSpPr txBox="1"/>
          <p:nvPr/>
        </p:nvSpPr>
        <p:spPr>
          <a:xfrm>
            <a:off x="6229807" y="2630729"/>
            <a:ext cx="540959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Prompt: “Read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#file risk_rollup.py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#file test_risk_rollup.py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Propose a 3-step plan to extract validation guards into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validators.py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List the files each step touches and wait for my approval.”</a:t>
            </a:r>
            <a:endParaRPr lang="en-US" sz="1580" dirty="0"/>
          </a:p>
        </p:txBody>
      </p:sp>
      <p:sp>
        <p:nvSpPr>
          <p:cNvPr id="14" name="Text 11"/>
          <p:cNvSpPr txBox="1"/>
          <p:nvPr/>
        </p:nvSpPr>
        <p:spPr>
          <a:xfrm>
            <a:off x="6229807" y="4053535"/>
            <a:ext cx="5409590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the plan, then execute one step at a time and run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pytest</a:t>
            </a:r>
            <a:endParaRPr lang="en-US" sz="1580" dirty="0"/>
          </a:p>
        </p:txBody>
      </p:sp>
      <p:sp>
        <p:nvSpPr>
          <p:cNvPr id="15" name="Text 12"/>
          <p:cNvSpPr txBox="1"/>
          <p:nvPr/>
        </p:nvSpPr>
        <p:spPr>
          <a:xfrm>
            <a:off x="152705" y="6409944"/>
            <a:ext cx="266913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6" name="Text 13"/>
          <p:cNvSpPr txBox="1"/>
          <p:nvPr/>
        </p:nvSpPr>
        <p:spPr>
          <a:xfrm>
            <a:off x="3088843" y="6409944"/>
            <a:ext cx="488563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7" name="Text 14"/>
          <p:cNvSpPr txBox="1"/>
          <p:nvPr/>
        </p:nvSpPr>
        <p:spPr>
          <a:xfrm>
            <a:off x="11544300" y="6409944"/>
            <a:ext cx="53309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of 28</a:t>
            </a:r>
            <a:endParaRPr lang="en-US" sz="11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476402" y="5586984"/>
            <a:ext cx="11162995" cy="1271016"/>
          </a:xfrm>
          <a:prstGeom prst="rect">
            <a:avLst/>
          </a:prstGeom>
          <a:solidFill>
            <a:srgbClr val="EFF3F7"/>
          </a:solidFill>
          <a:ln/>
        </p:spPr>
      </p:sp>
      <p:sp>
        <p:nvSpPr>
          <p:cNvPr id="5" name="Shape 3"/>
          <p:cNvSpPr/>
          <p:nvPr/>
        </p:nvSpPr>
        <p:spPr>
          <a:xfrm>
            <a:off x="476402" y="5586984"/>
            <a:ext cx="38405" cy="1271016"/>
          </a:xfrm>
          <a:prstGeom prst="rect">
            <a:avLst/>
          </a:prstGeom>
          <a:solidFill>
            <a:srgbClr val="8250DF"/>
          </a:solidFill>
          <a:ln/>
        </p:spPr>
      </p:sp>
      <p:sp>
        <p:nvSpPr>
          <p:cNvPr id="6" name="Shape 4"/>
          <p:cNvSpPr/>
          <p:nvPr/>
        </p:nvSpPr>
        <p:spPr>
          <a:xfrm>
            <a:off x="11408969" y="6409944"/>
            <a:ext cx="782726" cy="448056"/>
          </a:xfrm>
          <a:prstGeom prst="rect">
            <a:avLst/>
          </a:prstGeom>
          <a:solidFill>
            <a:srgbClr val="1E71D6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6402" y="2788920"/>
          <a:ext cx="11162995" cy="2607869"/>
        </p:xfrm>
        <a:graphic>
          <a:graphicData uri="http://schemas.openxmlformats.org/drawingml/2006/table">
            <a:tbl>
              <a:tblPr/>
              <a:tblGrid>
                <a:gridCol w="5581498"/>
                <a:gridCol w="5581498"/>
              </a:tblGrid>
              <a:tr h="65196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VS Code Agent Control</a:t>
                      </a:r>
                      <a:endParaRPr lang="en-US" sz="12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824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How to Use It During Review</a:t>
                      </a:r>
                      <a:endParaRPr lang="en-US" sz="12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82445"/>
                    </a:solidFill>
                  </a:tcPr>
                </a:tc>
              </a:tr>
              <a:tr h="65196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Agent mode menu (Interactive / Plan)</a:t>
                      </a:r>
                      <a:endParaRPr lang="en-US" sz="12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Use Plan to review the step list before any edits, and Interactive for step-by-step collaboration.</a:t>
                      </a:r>
                      <a:endParaRPr lang="en-US" sz="12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196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Permissions (Manual)</a:t>
                      </a:r>
                      <a:endParaRPr lang="en-US" sz="12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Keep set to Manual so Copilot must ask before running terminal commands or modifying outside files.</a:t>
                      </a:r>
                      <a:endParaRPr lang="en-US" sz="12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196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File change list and inline diffs (Keep / Undo)</a:t>
                      </a:r>
                      <a:endParaRPr lang="en-US" sz="12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Click each modified file to inspect the side-by-side diff; click Undo on any file you did not authorize Copilot to touch.</a:t>
                      </a:r>
                      <a:endParaRPr lang="en-US" sz="12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73261" y="6500470"/>
            <a:ext cx="1127455" cy="26700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Using VS Code’s Review Controls in Agent Mode</a:t>
            </a:r>
            <a:endParaRPr lang="en-US" sz="3300" dirty="0"/>
          </a:p>
        </p:txBody>
      </p:sp>
      <p:sp>
        <p:nvSpPr>
          <p:cNvPr id="10" name="Text 6"/>
          <p:cNvSpPr txBox="1"/>
          <p:nvPr/>
        </p:nvSpPr>
        <p:spPr>
          <a:xfrm>
            <a:off x="476402" y="1308506"/>
            <a:ext cx="11162995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Copilot Agent edits files in your workspace, VS Code displays inline diffs and an action bar (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Keep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or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Undo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for every modified file</a:t>
            </a:r>
            <a:endParaRPr lang="en-US" sz="1730" dirty="0"/>
          </a:p>
        </p:txBody>
      </p:sp>
      <p:sp>
        <p:nvSpPr>
          <p:cNvPr id="11" name="Text 7"/>
          <p:cNvSpPr txBox="1"/>
          <p:nvPr/>
        </p:nvSpPr>
        <p:spPr>
          <a:xfrm>
            <a:off x="476402" y="2187245"/>
            <a:ext cx="11162995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click </a:t>
            </a:r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All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before expanding each modified file and running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pytest</a:t>
            </a:r>
            <a:endParaRPr lang="en-US" sz="1730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5701284"/>
            <a:ext cx="10782605" cy="244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825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Important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6163970"/>
            <a:ext cx="10782605" cy="694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If Agent mode modifies a test just to make a broken formula pass, click </a:t>
            </a:r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Undo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 the test file immediately and narrow your prompt.</a:t>
            </a:r>
            <a:endParaRPr lang="en-US" sz="1730" dirty="0"/>
          </a:p>
        </p:txBody>
      </p:sp>
      <p:sp>
        <p:nvSpPr>
          <p:cNvPr id="14" name="Text 10"/>
          <p:cNvSpPr txBox="1"/>
          <p:nvPr/>
        </p:nvSpPr>
        <p:spPr>
          <a:xfrm>
            <a:off x="152705" y="6409944"/>
            <a:ext cx="266456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5" name="Text 11"/>
          <p:cNvSpPr txBox="1"/>
          <p:nvPr/>
        </p:nvSpPr>
        <p:spPr>
          <a:xfrm>
            <a:off x="3083357" y="6409944"/>
            <a:ext cx="487649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6" name="Text 12"/>
          <p:cNvSpPr txBox="1"/>
          <p:nvPr/>
        </p:nvSpPr>
        <p:spPr>
          <a:xfrm>
            <a:off x="11523269" y="6409944"/>
            <a:ext cx="55412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of 28</a:t>
            </a:r>
            <a:endParaRPr lang="en-US" sz="11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407140" y="6409944"/>
            <a:ext cx="784555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7091" y="3552444"/>
            <a:ext cx="6541618" cy="2657246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1432" y="6500470"/>
            <a:ext cx="1127455" cy="2670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Generating MRM Audit Evidence with a Prompt File</a:t>
            </a:r>
            <a:endParaRPr lang="en-US" sz="3300" dirty="0"/>
          </a:p>
        </p:txBody>
      </p:sp>
      <p:sp>
        <p:nvSpPr>
          <p:cNvPr id="8" name="Text 4"/>
          <p:cNvSpPr txBox="1"/>
          <p:nvPr/>
        </p:nvSpPr>
        <p:spPr>
          <a:xfrm>
            <a:off x="476402" y="1079906"/>
            <a:ext cx="11162995" cy="74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Risk Management (MRM) reviewers need a clear record of what changed, whether business formulas moved, and which tests verified the change</a:t>
            </a:r>
            <a:endParaRPr lang="en-US" sz="1730" dirty="0"/>
          </a:p>
        </p:txBody>
      </p:sp>
      <p:sp>
        <p:nvSpPr>
          <p:cNvPr id="9" name="Text 5"/>
          <p:cNvSpPr txBox="1"/>
          <p:nvPr/>
        </p:nvSpPr>
        <p:spPr>
          <a:xfrm>
            <a:off x="476402" y="1958645"/>
            <a:ext cx="11162995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Instead of writing audit notes from scratch, store a reusable prompt template at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.github/prompts/mrm-evidence.prompt.md</a:t>
            </a:r>
            <a:endParaRPr lang="en-US" sz="1730" dirty="0"/>
          </a:p>
        </p:txBody>
      </p:sp>
      <p:sp>
        <p:nvSpPr>
          <p:cNvPr id="10" name="Text 6"/>
          <p:cNvSpPr txBox="1"/>
          <p:nvPr/>
        </p:nvSpPr>
        <p:spPr>
          <a:xfrm>
            <a:off x="476402" y="2837383"/>
            <a:ext cx="11162995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Attach the code file, test file, and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pytest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output, then run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/mrm-evidence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Copilot Chat</a:t>
            </a:r>
            <a:endParaRPr lang="en-US" sz="1730" dirty="0"/>
          </a:p>
        </p:txBody>
      </p:sp>
      <p:sp>
        <p:nvSpPr>
          <p:cNvPr id="11" name="Text 7"/>
          <p:cNvSpPr txBox="1"/>
          <p:nvPr/>
        </p:nvSpPr>
        <p:spPr>
          <a:xfrm>
            <a:off x="152705" y="6409944"/>
            <a:ext cx="2663647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2" name="Text 8"/>
          <p:cNvSpPr txBox="1"/>
          <p:nvPr/>
        </p:nvSpPr>
        <p:spPr>
          <a:xfrm>
            <a:off x="3082442" y="6409944"/>
            <a:ext cx="4875581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3" name="Text 9"/>
          <p:cNvSpPr txBox="1"/>
          <p:nvPr/>
        </p:nvSpPr>
        <p:spPr>
          <a:xfrm>
            <a:off x="11521440" y="6409944"/>
            <a:ext cx="55595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of 28</a:t>
            </a:r>
            <a:endParaRPr lang="en-US" sz="11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476402" y="2283257"/>
            <a:ext cx="11162995" cy="3372307"/>
          </a:xfrm>
          <a:prstGeom prst="roundRect">
            <a:avLst>
              <a:gd name="adj" fmla="val 2251"/>
            </a:avLst>
          </a:prstGeom>
          <a:solidFill>
            <a:srgbClr val="F2F8FF"/>
          </a:solidFill>
          <a:ln/>
        </p:spPr>
      </p:sp>
      <p:sp>
        <p:nvSpPr>
          <p:cNvPr id="5" name="Shape 3"/>
          <p:cNvSpPr/>
          <p:nvPr/>
        </p:nvSpPr>
        <p:spPr>
          <a:xfrm>
            <a:off x="476402" y="5844845"/>
            <a:ext cx="11162995" cy="1013155"/>
          </a:xfrm>
          <a:prstGeom prst="rect">
            <a:avLst/>
          </a:prstGeom>
          <a:solidFill>
            <a:srgbClr val="EFF3F7"/>
          </a:solidFill>
          <a:ln/>
        </p:spPr>
      </p:sp>
      <p:sp>
        <p:nvSpPr>
          <p:cNvPr id="6" name="Shape 4"/>
          <p:cNvSpPr/>
          <p:nvPr/>
        </p:nvSpPr>
        <p:spPr>
          <a:xfrm>
            <a:off x="476402" y="5844845"/>
            <a:ext cx="38405" cy="1013155"/>
          </a:xfrm>
          <a:prstGeom prst="rect">
            <a:avLst/>
          </a:prstGeom>
          <a:solidFill>
            <a:srgbClr val="1A7F37"/>
          </a:solidFill>
          <a:ln/>
        </p:spPr>
      </p:sp>
      <p:sp>
        <p:nvSpPr>
          <p:cNvPr id="7" name="Shape 5"/>
          <p:cNvSpPr/>
          <p:nvPr/>
        </p:nvSpPr>
        <p:spPr>
          <a:xfrm>
            <a:off x="11402568" y="6409944"/>
            <a:ext cx="789127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6860" y="6500470"/>
            <a:ext cx="1127455" cy="2670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Creating </a:t>
            </a:r>
            <a:pPr algn="ctr" indent="0" marL="0">
              <a:lnSpc>
                <a:spcPts val="5280"/>
              </a:lnSpc>
              <a:buNone/>
            </a:pPr>
            <a:r>
              <a:rPr lang="en-US" sz="3140" b="1" dirty="0">
                <a:solidFill>
                  <a:srgbClr val="082445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.github/prompts/mrm-evidence.prompt.md</a:t>
            </a:r>
            <a:endParaRPr lang="en-US" sz="3300" dirty="0"/>
          </a:p>
        </p:txBody>
      </p:sp>
      <p:sp>
        <p:nvSpPr>
          <p:cNvPr id="10" name="Text 7"/>
          <p:cNvSpPr txBox="1"/>
          <p:nvPr/>
        </p:nvSpPr>
        <p:spPr>
          <a:xfrm>
            <a:off x="476402" y="1308506"/>
            <a:ext cx="11162995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this reusable prompt file in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.github/prompts/mrm-evidence.prompt.md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run it by typing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/mrm-evidence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Chat:</a:t>
            </a:r>
            <a:endParaRPr lang="en-US" sz="1730" dirty="0"/>
          </a:p>
        </p:txBody>
      </p:sp>
      <p:sp>
        <p:nvSpPr>
          <p:cNvPr id="11" name="Text 8"/>
          <p:cNvSpPr txBox="1"/>
          <p:nvPr/>
        </p:nvSpPr>
        <p:spPr>
          <a:xfrm>
            <a:off x="629107" y="2435047"/>
            <a:ext cx="10858500" cy="3066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# Prompt File: .github/prompts/mrm-evidence.prompt.md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Using the attached code file, test file, and pytest terminal output, generate `AUDIT_EVIDENCE.md` with: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1. **Scope of Change**: List every function modified or added.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2. **Formula and Denominator Parity**: State whether any filter, grain, or rate formula changed.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3. **Runtime Assertions Added**: List each `ValueError` check and the condition that triggers it.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4. **Test Verification**: Table of `pytest` test names, what each verifies, and pass/fail status from the attached run.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5. **Human Sign-Off Checklist**: Leave reviewer name, date, and approval decision as `TODO`.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Rule: Do not invent test results or claim a model is "Approved."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76402" y="5646420"/>
            <a:ext cx="11162995" cy="9144"/>
          </a:xfrm>
          <a:prstGeom prst="rect">
            <a:avLst/>
          </a:prstGeom>
          <a:solidFill>
            <a:srgbClr val="D5E4F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85800" y="5959145"/>
            <a:ext cx="10782605" cy="244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1A7F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Tip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6422746"/>
            <a:ext cx="10782605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When an MRM workflow needs bundled Markdown templates, checklists, or validation scripts alongside instructions, package it as an Agent Skill in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.github/skills/mrm-governance/SKILL.md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so Copilot loads the playbook and templates automatically.</a:t>
            </a:r>
            <a:endParaRPr lang="en-US" sz="1730" dirty="0"/>
          </a:p>
        </p:txBody>
      </p:sp>
      <p:sp>
        <p:nvSpPr>
          <p:cNvPr id="15" name="Text 12"/>
          <p:cNvSpPr txBox="1"/>
          <p:nvPr/>
        </p:nvSpPr>
        <p:spPr>
          <a:xfrm>
            <a:off x="152705" y="6409944"/>
            <a:ext cx="266273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6" name="Text 13"/>
          <p:cNvSpPr txBox="1"/>
          <p:nvPr/>
        </p:nvSpPr>
        <p:spPr>
          <a:xfrm>
            <a:off x="3081528" y="6409944"/>
            <a:ext cx="487375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7" name="Text 14"/>
          <p:cNvSpPr txBox="1"/>
          <p:nvPr/>
        </p:nvSpPr>
        <p:spPr>
          <a:xfrm>
            <a:off x="11516868" y="6409944"/>
            <a:ext cx="560527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of 28</a:t>
            </a:r>
            <a:endParaRPr lang="en-US" sz="11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410798" y="6409944"/>
            <a:ext cx="780898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74175" y="6500470"/>
            <a:ext cx="1127455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Concepts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3771900" y="2681021"/>
            <a:ext cx="4572000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1880" dirty="0">
                <a:solidFill>
                  <a:srgbClr val="8B9B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Code Maintenance</a:t>
            </a:r>
            <a:endParaRPr lang="en-US" sz="1880" dirty="0"/>
          </a:p>
        </p:txBody>
      </p:sp>
      <p:sp>
        <p:nvSpPr>
          <p:cNvPr id="8" name="Shape 5"/>
          <p:cNvSpPr/>
          <p:nvPr/>
        </p:nvSpPr>
        <p:spPr>
          <a:xfrm>
            <a:off x="3771900" y="3161995"/>
            <a:ext cx="4572000" cy="9144"/>
          </a:xfrm>
          <a:prstGeom prst="rect">
            <a:avLst/>
          </a:prstGeom>
          <a:solidFill>
            <a:srgbClr val="E3EAF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771900" y="3380537"/>
            <a:ext cx="4572000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1880" dirty="0">
                <a:solidFill>
                  <a:srgbClr val="8B9B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Human-in-the-Loop </a:t>
            </a:r>
            <a:endParaRPr lang="en-US" sz="1880" dirty="0"/>
          </a:p>
        </p:txBody>
      </p:sp>
      <p:sp>
        <p:nvSpPr>
          <p:cNvPr id="10" name="Shape 7"/>
          <p:cNvSpPr/>
          <p:nvPr/>
        </p:nvSpPr>
        <p:spPr>
          <a:xfrm>
            <a:off x="3771900" y="3862426"/>
            <a:ext cx="4572000" cy="9144"/>
          </a:xfrm>
          <a:prstGeom prst="rect">
            <a:avLst/>
          </a:prstGeom>
          <a:solidFill>
            <a:srgbClr val="E3EAF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771900" y="4080967"/>
            <a:ext cx="4267505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188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Documentation</a:t>
            </a:r>
            <a:endParaRPr lang="en-US" sz="1880" dirty="0"/>
          </a:p>
        </p:txBody>
      </p:sp>
      <p:sp>
        <p:nvSpPr>
          <p:cNvPr id="12" name="Shape 9"/>
          <p:cNvSpPr/>
          <p:nvPr/>
        </p:nvSpPr>
        <p:spPr>
          <a:xfrm>
            <a:off x="3619195" y="4562856"/>
            <a:ext cx="4572000" cy="9144"/>
          </a:xfrm>
          <a:prstGeom prst="rect">
            <a:avLst/>
          </a:prstGeom>
          <a:solidFill>
            <a:srgbClr val="E3EAF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52705" y="6409944"/>
            <a:ext cx="266456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4" name="Text 11"/>
          <p:cNvSpPr txBox="1"/>
          <p:nvPr/>
        </p:nvSpPr>
        <p:spPr>
          <a:xfrm>
            <a:off x="3083357" y="6409944"/>
            <a:ext cx="487649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5" name="Text 12"/>
          <p:cNvSpPr txBox="1"/>
          <p:nvPr/>
        </p:nvSpPr>
        <p:spPr>
          <a:xfrm>
            <a:off x="11525098" y="6409944"/>
            <a:ext cx="5532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of 28</a:t>
            </a:r>
            <a:endParaRPr lang="en-US" sz="11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406226" y="6409944"/>
            <a:ext cx="785470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1620" y="1118311"/>
            <a:ext cx="9052560" cy="509229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0518" y="6500470"/>
            <a:ext cx="1127455" cy="2670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Generating Grounded Model Cards from Code and Output</a:t>
            </a:r>
            <a:endParaRPr lang="en-US" sz="3300" dirty="0"/>
          </a:p>
        </p:txBody>
      </p:sp>
      <p:sp>
        <p:nvSpPr>
          <p:cNvPr id="8" name="Text 4"/>
          <p:cNvSpPr txBox="1"/>
          <p:nvPr/>
        </p:nvSpPr>
        <p:spPr>
          <a:xfrm>
            <a:off x="152705" y="6409944"/>
            <a:ext cx="2663647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9" name="Text 5"/>
          <p:cNvSpPr txBox="1"/>
          <p:nvPr/>
        </p:nvSpPr>
        <p:spPr>
          <a:xfrm>
            <a:off x="3082442" y="6409944"/>
            <a:ext cx="487466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0" name="Text 6"/>
          <p:cNvSpPr txBox="1"/>
          <p:nvPr/>
        </p:nvSpPr>
        <p:spPr>
          <a:xfrm>
            <a:off x="11520526" y="6409944"/>
            <a:ext cx="55687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of 28</a:t>
            </a:r>
            <a:endParaRPr lang="en-US" sz="11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476402" y="3160166"/>
            <a:ext cx="11162995" cy="3066898"/>
          </a:xfrm>
          <a:prstGeom prst="roundRect">
            <a:avLst>
              <a:gd name="adj" fmla="val 2475"/>
            </a:avLst>
          </a:prstGeom>
          <a:solidFill>
            <a:srgbClr val="F2F8FF"/>
          </a:solidFill>
          <a:ln/>
        </p:spPr>
      </p:sp>
      <p:sp>
        <p:nvSpPr>
          <p:cNvPr id="5" name="Shape 3"/>
          <p:cNvSpPr/>
          <p:nvPr/>
        </p:nvSpPr>
        <p:spPr>
          <a:xfrm>
            <a:off x="11416284" y="6409944"/>
            <a:ext cx="775411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78747" y="6500470"/>
            <a:ext cx="1127455" cy="2670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Prompting Copilot for a Model Card</a:t>
            </a:r>
            <a:endParaRPr lang="en-US" sz="3300" dirty="0"/>
          </a:p>
        </p:txBody>
      </p:sp>
      <p:sp>
        <p:nvSpPr>
          <p:cNvPr id="8" name="Text 5"/>
          <p:cNvSpPr txBox="1"/>
          <p:nvPr/>
        </p:nvSpPr>
        <p:spPr>
          <a:xfrm>
            <a:off x="476402" y="1308506"/>
            <a:ext cx="11162995" cy="74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you ask Copilot to “write a model card for our delinquency model” with no files attached, it invents feature lists, training dates, and validation numbers</a:t>
            </a:r>
            <a:endParaRPr lang="en-US" sz="1730" dirty="0"/>
          </a:p>
        </p:txBody>
      </p:sp>
      <p:sp>
        <p:nvSpPr>
          <p:cNvPr id="9" name="Text 6"/>
          <p:cNvSpPr txBox="1"/>
          <p:nvPr/>
        </p:nvSpPr>
        <p:spPr>
          <a:xfrm>
            <a:off x="476402" y="2187245"/>
            <a:ext cx="11162995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Attach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#file schema.md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#file train_baseline.py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#file metrics_output.json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so every technical section comes straight from your repo</a:t>
            </a:r>
            <a:endParaRPr lang="en-US" sz="1730" dirty="0"/>
          </a:p>
        </p:txBody>
      </p:sp>
      <p:sp>
        <p:nvSpPr>
          <p:cNvPr id="10" name="Text 7"/>
          <p:cNvSpPr txBox="1"/>
          <p:nvPr/>
        </p:nvSpPr>
        <p:spPr>
          <a:xfrm>
            <a:off x="629107" y="3312871"/>
            <a:ext cx="10858500" cy="2762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Using #file schema.md, #file train_baseline.py, and #file metrics_output.json,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create MODEL_CARD.md with these sections: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1. Model Architecture and Hyperparameters (read from train_baseline.py)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2. Feature List and Preprocessing Pipeline (from schema.md and ColumnTransformer)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3. Training and Holdout Split Window (from train_baseline.py)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4. Holdout Performance Metrics (exact numbers from metrics_output.json)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5. Governance, Cutoffs, and Policy Limitations (mark every item in this section as TODO for human completion)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Do not invent any metric, date, or policy rule not present in the attached files.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76402" y="6217920"/>
            <a:ext cx="11162995" cy="9144"/>
          </a:xfrm>
          <a:prstGeom prst="rect">
            <a:avLst/>
          </a:prstGeom>
          <a:solidFill>
            <a:srgbClr val="D5E4F5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52705" y="6409944"/>
            <a:ext cx="266639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3" name="Text 10"/>
          <p:cNvSpPr txBox="1"/>
          <p:nvPr/>
        </p:nvSpPr>
        <p:spPr>
          <a:xfrm>
            <a:off x="3085186" y="6409944"/>
            <a:ext cx="487923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4" name="Text 11"/>
          <p:cNvSpPr txBox="1"/>
          <p:nvPr/>
        </p:nvSpPr>
        <p:spPr>
          <a:xfrm>
            <a:off x="11530584" y="6409944"/>
            <a:ext cx="546811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 of 28</a:t>
            </a:r>
            <a:endParaRPr lang="en-US" sz="114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406226" y="6409944"/>
            <a:ext cx="785470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9830" y="1527962"/>
            <a:ext cx="3810305" cy="3810305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0518" y="6500470"/>
            <a:ext cx="1127455" cy="2670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Using </a:t>
            </a:r>
            <a:pPr algn="ctr" indent="0" marL="0">
              <a:lnSpc>
                <a:spcPts val="5280"/>
              </a:lnSpc>
              <a:buNone/>
            </a:pPr>
            <a:r>
              <a:rPr lang="en-US" sz="3140" b="1" dirty="0">
                <a:solidFill>
                  <a:srgbClr val="082445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/doc</a:t>
            </a:r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ctr" indent="0" marL="0">
              <a:lnSpc>
                <a:spcPts val="5280"/>
              </a:lnSpc>
              <a:buNone/>
            </a:pPr>
            <a:r>
              <a:rPr lang="en-US" sz="3140" b="1" dirty="0">
                <a:solidFill>
                  <a:srgbClr val="082445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/explain</a:t>
            </a:r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Document Complex Scripts</a:t>
            </a:r>
            <a:endParaRPr lang="en-US" sz="3300" dirty="0"/>
          </a:p>
        </p:txBody>
      </p:sp>
      <p:sp>
        <p:nvSpPr>
          <p:cNvPr id="8" name="Text 4"/>
          <p:cNvSpPr txBox="1"/>
          <p:nvPr/>
        </p:nvSpPr>
        <p:spPr>
          <a:xfrm>
            <a:off x="476402" y="1308506"/>
            <a:ext cx="6011266" cy="1117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Highlight any function and press CMD+I (Mac) or CTRL+I (Windows), then type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/doc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generate a structured docstring in place</a:t>
            </a:r>
            <a:endParaRPr lang="en-US" sz="1730" dirty="0"/>
          </a:p>
        </p:txBody>
      </p:sp>
      <p:sp>
        <p:nvSpPr>
          <p:cNvPr id="9" name="Text 5"/>
          <p:cNvSpPr txBox="1"/>
          <p:nvPr/>
        </p:nvSpPr>
        <p:spPr>
          <a:xfrm>
            <a:off x="476402" y="2559406"/>
            <a:ext cx="6011266" cy="1117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Specify your team’s docstring format (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NumPy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or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Google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style) and require grain, exclusions, and raised exceptions</a:t>
            </a:r>
            <a:endParaRPr lang="en-US" sz="1730" dirty="0"/>
          </a:p>
        </p:txBody>
      </p:sp>
      <p:sp>
        <p:nvSpPr>
          <p:cNvPr id="10" name="Text 6"/>
          <p:cNvSpPr txBox="1"/>
          <p:nvPr/>
        </p:nvSpPr>
        <p:spPr>
          <a:xfrm>
            <a:off x="476402" y="3810305"/>
            <a:ext cx="6011266" cy="1117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the guardrail “Add docstrings and comments only; do not modify any executable code” so Copilot never alters a formula while documenting it</a:t>
            </a:r>
            <a:endParaRPr lang="en-US" sz="1730" dirty="0"/>
          </a:p>
        </p:txBody>
      </p:sp>
      <p:sp>
        <p:nvSpPr>
          <p:cNvPr id="11" name="Text 7"/>
          <p:cNvSpPr txBox="1"/>
          <p:nvPr/>
        </p:nvSpPr>
        <p:spPr>
          <a:xfrm>
            <a:off x="152705" y="6409944"/>
            <a:ext cx="2663647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2" name="Text 8"/>
          <p:cNvSpPr txBox="1"/>
          <p:nvPr/>
        </p:nvSpPr>
        <p:spPr>
          <a:xfrm>
            <a:off x="3082442" y="6409944"/>
            <a:ext cx="487466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3" name="Text 9"/>
          <p:cNvSpPr txBox="1"/>
          <p:nvPr/>
        </p:nvSpPr>
        <p:spPr>
          <a:xfrm>
            <a:off x="11520526" y="6409944"/>
            <a:ext cx="55687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of 28</a:t>
            </a:r>
            <a:endParaRPr lang="en-US" sz="114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476402" y="2282342"/>
            <a:ext cx="11162995" cy="629107"/>
          </a:xfrm>
          <a:prstGeom prst="roundRect">
            <a:avLst>
              <a:gd name="adj" fmla="val 12064"/>
            </a:avLst>
          </a:prstGeom>
          <a:solidFill>
            <a:srgbClr val="F2F8FF"/>
          </a:solidFill>
          <a:ln/>
        </p:spPr>
      </p:sp>
      <p:sp>
        <p:nvSpPr>
          <p:cNvPr id="5" name="Shape 3"/>
          <p:cNvSpPr/>
          <p:nvPr/>
        </p:nvSpPr>
        <p:spPr>
          <a:xfrm>
            <a:off x="476402" y="4581144"/>
            <a:ext cx="11162995" cy="1848002"/>
          </a:xfrm>
          <a:prstGeom prst="roundRect">
            <a:avLst>
              <a:gd name="adj" fmla="val 4107"/>
            </a:avLst>
          </a:prstGeom>
          <a:solidFill>
            <a:srgbClr val="F2F8FF"/>
          </a:solidFill>
          <a:ln/>
        </p:spPr>
      </p:sp>
      <p:sp>
        <p:nvSpPr>
          <p:cNvPr id="6" name="Shape 4"/>
          <p:cNvSpPr/>
          <p:nvPr/>
        </p:nvSpPr>
        <p:spPr>
          <a:xfrm>
            <a:off x="11406226" y="6409944"/>
            <a:ext cx="785470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70518" y="6500470"/>
            <a:ext cx="1127455" cy="2670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Demo: Document and Package Code for Review</a:t>
            </a:r>
            <a:endParaRPr lang="en-US" sz="3300" dirty="0"/>
          </a:p>
        </p:txBody>
      </p:sp>
      <p:sp>
        <p:nvSpPr>
          <p:cNvPr id="9" name="Text 6"/>
          <p:cNvSpPr txBox="1"/>
          <p:nvPr/>
        </p:nvSpPr>
        <p:spPr>
          <a:xfrm>
            <a:off x="476402" y="1308506"/>
            <a:ext cx="11162995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Font typeface="+mj-lt"/>
              <a:buAutoNum type="arabicPeriod" startAt="1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VS Code, open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risk_rollup.py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from the earlier demo, select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calc_delinquency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press CMD+I (Mac) or CTRL+I (Windows), and run:</a:t>
            </a:r>
            <a:endParaRPr lang="en-US" sz="1730" dirty="0"/>
          </a:p>
        </p:txBody>
      </p:sp>
      <p:sp>
        <p:nvSpPr>
          <p:cNvPr id="10" name="Text 7"/>
          <p:cNvSpPr txBox="1"/>
          <p:nvPr/>
        </p:nvSpPr>
        <p:spPr>
          <a:xfrm>
            <a:off x="629107" y="2435047"/>
            <a:ext cx="1085850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/doc Add a NumPy-style docstring stating required columns, the charged_off exclusion rule, output Series format, and all ValueError conditions. Do not change any executable lines.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76402" y="2902306"/>
            <a:ext cx="11162995" cy="9144"/>
          </a:xfrm>
          <a:prstGeom prst="rect">
            <a:avLst/>
          </a:prstGeom>
          <a:solidFill>
            <a:srgbClr val="D5E4F5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76402" y="3101645"/>
            <a:ext cx="11162995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Font typeface="+mj-lt"/>
              <a:buAutoNum type="arabicPeriod" startAt="1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Accept the docstring diff and run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pytest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the terminal to confirm all tests still pass.</a:t>
            </a:r>
            <a:endParaRPr lang="en-US" sz="1730" dirty="0"/>
          </a:p>
        </p:txBody>
      </p:sp>
      <p:sp>
        <p:nvSpPr>
          <p:cNvPr id="13" name="Text 10"/>
          <p:cNvSpPr txBox="1"/>
          <p:nvPr/>
        </p:nvSpPr>
        <p:spPr>
          <a:xfrm>
            <a:off x="476402" y="3608222"/>
            <a:ext cx="11162995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Font typeface="+mj-lt"/>
              <a:buAutoNum type="arabicPeriod" startAt="1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Copilot Chat, attach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#file risk_rollup.py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#file test_risk_rollup.py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paste your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pytest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terminal output, and run:</a:t>
            </a:r>
            <a:endParaRPr lang="en-US" sz="1730" dirty="0"/>
          </a:p>
        </p:txBody>
      </p:sp>
      <p:sp>
        <p:nvSpPr>
          <p:cNvPr id="14" name="Text 11"/>
          <p:cNvSpPr txBox="1"/>
          <p:nvPr/>
        </p:nvSpPr>
        <p:spPr>
          <a:xfrm>
            <a:off x="629107" y="4733849"/>
            <a:ext cx="10858500" cy="1543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Generate AUDIT_EVIDENCE.md with: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1. Functions changed and vectorized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2. Runtime ValueError assertions added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3. Table of pytest tests in test_risk_rollup.py and pass count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4. Human sign-off section marked TODO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76402" y="6420002"/>
            <a:ext cx="11162995" cy="9144"/>
          </a:xfrm>
          <a:prstGeom prst="rect">
            <a:avLst/>
          </a:prstGeom>
          <a:solidFill>
            <a:srgbClr val="D5E4F5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52705" y="6409944"/>
            <a:ext cx="2663647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7" name="Text 14"/>
          <p:cNvSpPr txBox="1"/>
          <p:nvPr/>
        </p:nvSpPr>
        <p:spPr>
          <a:xfrm>
            <a:off x="3082442" y="6409944"/>
            <a:ext cx="487466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8" name="Text 15"/>
          <p:cNvSpPr txBox="1"/>
          <p:nvPr/>
        </p:nvSpPr>
        <p:spPr>
          <a:xfrm>
            <a:off x="11520526" y="6409944"/>
            <a:ext cx="55687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of 28</a:t>
            </a:r>
            <a:endParaRPr lang="en-US" sz="114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374222" y="6409944"/>
            <a:ext cx="817474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3086" y="6500470"/>
            <a:ext cx="1127455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4: Hands-On Lab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476402" y="1308506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Lab: </a:t>
            </a:r>
            <a:pPr algn="l" indent="0" marL="0">
              <a:lnSpc>
                <a:spcPts val="2930"/>
              </a:lnSpc>
              <a:buNone/>
            </a:pPr>
            <a:r>
              <a:rPr lang="en-US" sz="1730" u="sng" dirty="0">
                <a:solidFill>
                  <a:srgbClr val="1E71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Agentic Governance and Automated Code Cleanup</a:t>
            </a:r>
            <a:endParaRPr lang="en-US" sz="1730" dirty="0"/>
          </a:p>
        </p:txBody>
      </p:sp>
      <p:sp>
        <p:nvSpPr>
          <p:cNvPr id="8" name="Text 5"/>
          <p:cNvSpPr txBox="1"/>
          <p:nvPr/>
        </p:nvSpPr>
        <p:spPr>
          <a:xfrm>
            <a:off x="476402" y="1814170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Time: 30 minutes</a:t>
            </a:r>
            <a:endParaRPr lang="en-US" sz="1730" dirty="0"/>
          </a:p>
        </p:txBody>
      </p:sp>
      <p:sp>
        <p:nvSpPr>
          <p:cNvPr id="9" name="Text 6"/>
          <p:cNvSpPr txBox="1"/>
          <p:nvPr/>
        </p:nvSpPr>
        <p:spPr>
          <a:xfrm>
            <a:off x="152705" y="6409944"/>
            <a:ext cx="265541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0" name="Text 7"/>
          <p:cNvSpPr txBox="1"/>
          <p:nvPr/>
        </p:nvSpPr>
        <p:spPr>
          <a:xfrm>
            <a:off x="3074213" y="6409944"/>
            <a:ext cx="48600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1" name="Text 8"/>
          <p:cNvSpPr txBox="1"/>
          <p:nvPr/>
        </p:nvSpPr>
        <p:spPr>
          <a:xfrm>
            <a:off x="11488522" y="6409944"/>
            <a:ext cx="58887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of 28</a:t>
            </a:r>
            <a:endParaRPr lang="en-US" sz="114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408969" y="6409944"/>
            <a:ext cx="782726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73261" y="6500470"/>
            <a:ext cx="1127455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You Learned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476402" y="1308506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Refactored, modularized, and vectorized slow Python analytics scripts</a:t>
            </a:r>
            <a:endParaRPr lang="en-US" sz="1730" dirty="0"/>
          </a:p>
        </p:txBody>
      </p:sp>
      <p:sp>
        <p:nvSpPr>
          <p:cNvPr id="8" name="Text 5"/>
          <p:cNvSpPr txBox="1"/>
          <p:nvPr/>
        </p:nvSpPr>
        <p:spPr>
          <a:xfrm>
            <a:off x="476402" y="1814170"/>
            <a:ext cx="11162995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Prompted Copilot to add defensive assertions and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pytest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suites</a:t>
            </a:r>
            <a:endParaRPr lang="en-US" sz="1730" dirty="0"/>
          </a:p>
        </p:txBody>
      </p:sp>
      <p:sp>
        <p:nvSpPr>
          <p:cNvPr id="9" name="Text 6"/>
          <p:cNvSpPr txBox="1"/>
          <p:nvPr/>
        </p:nvSpPr>
        <p:spPr>
          <a:xfrm>
            <a:off x="476402" y="2320747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 plan-first prompts, single-step approvals, and VS Code diff reviews</a:t>
            </a:r>
            <a:endParaRPr lang="en-US" sz="1730" dirty="0"/>
          </a:p>
        </p:txBody>
      </p:sp>
      <p:sp>
        <p:nvSpPr>
          <p:cNvPr id="10" name="Text 7"/>
          <p:cNvSpPr txBox="1"/>
          <p:nvPr/>
        </p:nvSpPr>
        <p:spPr>
          <a:xfrm>
            <a:off x="476402" y="2826410"/>
            <a:ext cx="11162995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reusable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.github/prompts/*.prompt.md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templates and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.github/skills/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governance playbooks</a:t>
            </a:r>
            <a:endParaRPr lang="en-US" sz="1730" dirty="0"/>
          </a:p>
        </p:txBody>
      </p:sp>
      <p:sp>
        <p:nvSpPr>
          <p:cNvPr id="11" name="Text 8"/>
          <p:cNvSpPr txBox="1"/>
          <p:nvPr/>
        </p:nvSpPr>
        <p:spPr>
          <a:xfrm>
            <a:off x="476402" y="3332074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Generated grounded Model Cards, technical specifications, and docstrings</a:t>
            </a:r>
            <a:endParaRPr lang="en-US" sz="1730" dirty="0"/>
          </a:p>
        </p:txBody>
      </p:sp>
      <p:sp>
        <p:nvSpPr>
          <p:cNvPr id="12" name="Text 9"/>
          <p:cNvSpPr txBox="1"/>
          <p:nvPr/>
        </p:nvSpPr>
        <p:spPr>
          <a:xfrm>
            <a:off x="152705" y="6409944"/>
            <a:ext cx="266456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3" name="Text 10"/>
          <p:cNvSpPr txBox="1"/>
          <p:nvPr/>
        </p:nvSpPr>
        <p:spPr>
          <a:xfrm>
            <a:off x="3083357" y="6409944"/>
            <a:ext cx="487649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4" name="Text 11"/>
          <p:cNvSpPr txBox="1"/>
          <p:nvPr/>
        </p:nvSpPr>
        <p:spPr>
          <a:xfrm>
            <a:off x="11523269" y="6409944"/>
            <a:ext cx="55412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 of 28</a:t>
            </a:r>
            <a:endParaRPr lang="en-US" sz="114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380622" y="6409944"/>
            <a:ext cx="811073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8572" y="6500470"/>
            <a:ext cx="1127455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Quiz 1 of 3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476402" y="1308506"/>
            <a:ext cx="11162995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want to use Copilot Agent mode in VS Code to refactor a 300-line monitoring script into separate modules (</a:t>
            </a:r>
            <a:pPr algn="l" indent="0" marL="0">
              <a:lnSpc>
                <a:spcPts val="2930"/>
              </a:lnSpc>
              <a:buNone/>
            </a:pPr>
            <a:r>
              <a:rPr lang="en-US" sz="1640" b="1" dirty="0">
                <a:solidFill>
                  <a:srgbClr val="082445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validators.py</a:t>
            </a:r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930"/>
              </a:lnSpc>
              <a:buNone/>
            </a:pPr>
            <a:r>
              <a:rPr lang="en-US" sz="1640" b="1" dirty="0">
                <a:solidFill>
                  <a:srgbClr val="082445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metrics.py</a:t>
            </a:r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</a:t>
            </a:r>
            <a:pPr algn="l" indent="0" marL="0">
              <a:lnSpc>
                <a:spcPts val="2930"/>
              </a:lnSpc>
              <a:buNone/>
            </a:pPr>
            <a:r>
              <a:rPr lang="en-US" sz="1640" b="1" dirty="0">
                <a:solidFill>
                  <a:srgbClr val="082445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test_metrics.py</a:t>
            </a:r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). How should you start the session?</a:t>
            </a:r>
            <a:endParaRPr lang="en-US" sz="1730" dirty="0"/>
          </a:p>
        </p:txBody>
      </p:sp>
      <p:sp>
        <p:nvSpPr>
          <p:cNvPr id="8" name="Text 5"/>
          <p:cNvSpPr txBox="1"/>
          <p:nvPr/>
        </p:nvSpPr>
        <p:spPr>
          <a:xfrm>
            <a:off x="476402" y="2273198"/>
            <a:ext cx="11162995" cy="74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A. Prompt Agent mode to “Clean up and reorganize the whole repo however you think is best” and click Keep All</a:t>
            </a:r>
            <a:endParaRPr lang="en-US" sz="1730" dirty="0"/>
          </a:p>
        </p:txBody>
      </p:sp>
      <p:sp>
        <p:nvSpPr>
          <p:cNvPr id="9" name="Text 6"/>
          <p:cNvSpPr txBox="1"/>
          <p:nvPr/>
        </p:nvSpPr>
        <p:spPr>
          <a:xfrm>
            <a:off x="476402" y="3236976"/>
            <a:ext cx="11162995" cy="74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B. Ask Agent mode for a step-by-step plan listing which files each step will touch (“Do not edit files yet”), then approve and test one step at a time</a:t>
            </a:r>
            <a:endParaRPr lang="en-US" sz="1730" dirty="0"/>
          </a:p>
        </p:txBody>
      </p:sp>
      <p:sp>
        <p:nvSpPr>
          <p:cNvPr id="10" name="Text 7"/>
          <p:cNvSpPr txBox="1"/>
          <p:nvPr/>
        </p:nvSpPr>
        <p:spPr>
          <a:xfrm>
            <a:off x="476402" y="4200754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C. Delete all existing unit tests first so Agent mode is not slowed down by test failures</a:t>
            </a:r>
            <a:endParaRPr lang="en-US" sz="1730" dirty="0"/>
          </a:p>
        </p:txBody>
      </p:sp>
      <p:sp>
        <p:nvSpPr>
          <p:cNvPr id="11" name="Text 8"/>
          <p:cNvSpPr txBox="1"/>
          <p:nvPr/>
        </p:nvSpPr>
        <p:spPr>
          <a:xfrm>
            <a:off x="476402" y="4792370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D. Paste the 300-line script into the Copilot mobile app</a:t>
            </a:r>
            <a:endParaRPr lang="en-US" sz="1730" dirty="0"/>
          </a:p>
        </p:txBody>
      </p:sp>
      <p:sp>
        <p:nvSpPr>
          <p:cNvPr id="12" name="Text 9"/>
          <p:cNvSpPr txBox="1"/>
          <p:nvPr/>
        </p:nvSpPr>
        <p:spPr>
          <a:xfrm>
            <a:off x="152705" y="6409944"/>
            <a:ext cx="265724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3" name="Text 10"/>
          <p:cNvSpPr txBox="1"/>
          <p:nvPr/>
        </p:nvSpPr>
        <p:spPr>
          <a:xfrm>
            <a:off x="3076042" y="6409944"/>
            <a:ext cx="486369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4" name="Text 11"/>
          <p:cNvSpPr txBox="1"/>
          <p:nvPr/>
        </p:nvSpPr>
        <p:spPr>
          <a:xfrm>
            <a:off x="11494922" y="6409944"/>
            <a:ext cx="58247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 of 28</a:t>
            </a:r>
            <a:endParaRPr lang="en-US" sz="114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377879" y="6409944"/>
            <a:ext cx="813816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6743" y="6500470"/>
            <a:ext cx="1127455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Quiz 1: Answer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476402" y="1308506"/>
            <a:ext cx="11162995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want to use Copilot Agent mode in VS Code to refactor a 300-line monitoring script into separate modules (</a:t>
            </a:r>
            <a:pPr algn="l" indent="0" marL="0">
              <a:lnSpc>
                <a:spcPts val="2930"/>
              </a:lnSpc>
              <a:buNone/>
            </a:pPr>
            <a:r>
              <a:rPr lang="en-US" sz="1640" b="1" dirty="0">
                <a:solidFill>
                  <a:srgbClr val="082445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validators.py</a:t>
            </a:r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930"/>
              </a:lnSpc>
              <a:buNone/>
            </a:pPr>
            <a:r>
              <a:rPr lang="en-US" sz="1640" b="1" dirty="0">
                <a:solidFill>
                  <a:srgbClr val="082445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metrics.py</a:t>
            </a:r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</a:t>
            </a:r>
            <a:pPr algn="l" indent="0" marL="0">
              <a:lnSpc>
                <a:spcPts val="2930"/>
              </a:lnSpc>
              <a:buNone/>
            </a:pPr>
            <a:r>
              <a:rPr lang="en-US" sz="1640" b="1" dirty="0">
                <a:solidFill>
                  <a:srgbClr val="082445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test_metrics.py</a:t>
            </a:r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). How should you start the session?</a:t>
            </a:r>
            <a:endParaRPr lang="en-US" sz="1730" dirty="0"/>
          </a:p>
        </p:txBody>
      </p:sp>
      <p:sp>
        <p:nvSpPr>
          <p:cNvPr id="8" name="Text 5"/>
          <p:cNvSpPr txBox="1"/>
          <p:nvPr/>
        </p:nvSpPr>
        <p:spPr>
          <a:xfrm>
            <a:off x="476402" y="2273198"/>
            <a:ext cx="11162995" cy="74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Correct: B.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Ask Agent mode for a step-by-step plan listing which files each step will touch (“Do not edit files yet”), then approve and test one step at a time.</a:t>
            </a:r>
            <a:endParaRPr lang="en-US" sz="1730" dirty="0"/>
          </a:p>
        </p:txBody>
      </p:sp>
      <p:sp>
        <p:nvSpPr>
          <p:cNvPr id="9" name="Text 6"/>
          <p:cNvSpPr txBox="1"/>
          <p:nvPr/>
        </p:nvSpPr>
        <p:spPr>
          <a:xfrm>
            <a:off x="476402" y="3236976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plan-first prompt lets you verify the file list and module boundaries before Agent mode edits code</a:t>
            </a:r>
            <a:endParaRPr lang="en-US" sz="1730" dirty="0"/>
          </a:p>
        </p:txBody>
      </p:sp>
      <p:sp>
        <p:nvSpPr>
          <p:cNvPr id="10" name="Text 7"/>
          <p:cNvSpPr txBox="1"/>
          <p:nvPr/>
        </p:nvSpPr>
        <p:spPr>
          <a:xfrm>
            <a:off x="476402" y="3742639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Executing one step at a time keeps each VS Code diff small enough to inspect line by line</a:t>
            </a:r>
            <a:endParaRPr lang="en-US" sz="1730" dirty="0"/>
          </a:p>
        </p:txBody>
      </p:sp>
      <p:sp>
        <p:nvSpPr>
          <p:cNvPr id="11" name="Text 8"/>
          <p:cNvSpPr txBox="1"/>
          <p:nvPr/>
        </p:nvSpPr>
        <p:spPr>
          <a:xfrm>
            <a:off x="476402" y="4248302"/>
            <a:ext cx="11162995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Running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pytest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between steps catches any accidental formula or denominator change immediately</a:t>
            </a:r>
            <a:endParaRPr lang="en-US" sz="1730" dirty="0"/>
          </a:p>
        </p:txBody>
      </p:sp>
      <p:sp>
        <p:nvSpPr>
          <p:cNvPr id="12" name="Text 9"/>
          <p:cNvSpPr txBox="1"/>
          <p:nvPr/>
        </p:nvSpPr>
        <p:spPr>
          <a:xfrm>
            <a:off x="152705" y="6409944"/>
            <a:ext cx="26563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3" name="Text 10"/>
          <p:cNvSpPr txBox="1"/>
          <p:nvPr/>
        </p:nvSpPr>
        <p:spPr>
          <a:xfrm>
            <a:off x="3075127" y="6409944"/>
            <a:ext cx="486186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4" name="Text 11"/>
          <p:cNvSpPr txBox="1"/>
          <p:nvPr/>
        </p:nvSpPr>
        <p:spPr>
          <a:xfrm>
            <a:off x="11492179" y="6409944"/>
            <a:ext cx="5852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 of 28</a:t>
            </a:r>
            <a:endParaRPr lang="en-US" sz="114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376050" y="6409944"/>
            <a:ext cx="815645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914" y="6500470"/>
            <a:ext cx="1127455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Quiz 2 of 3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476402" y="1308506"/>
            <a:ext cx="11162995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you use Copilot Inline Chat (</a:t>
            </a:r>
            <a:pPr algn="l" indent="0" marL="0">
              <a:lnSpc>
                <a:spcPts val="2930"/>
              </a:lnSpc>
              <a:buNone/>
            </a:pPr>
            <a:r>
              <a:rPr lang="en-US" sz="1640" b="1" dirty="0">
                <a:solidFill>
                  <a:srgbClr val="082445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/doc</a:t>
            </a:r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to add docstrings and comments to an existing credit calculation function, what instruction should you include in your prompt?</a:t>
            </a:r>
            <a:endParaRPr lang="en-US" sz="1730" dirty="0"/>
          </a:p>
        </p:txBody>
      </p:sp>
      <p:sp>
        <p:nvSpPr>
          <p:cNvPr id="8" name="Text 5"/>
          <p:cNvSpPr txBox="1"/>
          <p:nvPr/>
        </p:nvSpPr>
        <p:spPr>
          <a:xfrm>
            <a:off x="476402" y="2273198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A. “Also rewrite the formula if you think of a different way to calculate the rate.”</a:t>
            </a:r>
            <a:endParaRPr lang="en-US" sz="1730" dirty="0"/>
          </a:p>
        </p:txBody>
      </p:sp>
      <p:sp>
        <p:nvSpPr>
          <p:cNvPr id="9" name="Text 6"/>
          <p:cNvSpPr txBox="1"/>
          <p:nvPr/>
        </p:nvSpPr>
        <p:spPr>
          <a:xfrm>
            <a:off x="476402" y="2864815"/>
            <a:ext cx="11162995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B. “Add NumPy-style docstrings covering inputs, exclusions, and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ValueError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conditions; do not modify any executable code.”</a:t>
            </a:r>
            <a:endParaRPr lang="en-US" sz="1730" dirty="0"/>
          </a:p>
        </p:txBody>
      </p:sp>
      <p:sp>
        <p:nvSpPr>
          <p:cNvPr id="10" name="Text 7"/>
          <p:cNvSpPr txBox="1"/>
          <p:nvPr/>
        </p:nvSpPr>
        <p:spPr>
          <a:xfrm>
            <a:off x="476402" y="3828593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C. “Invent a realistic holdout ROC AUC score and put it in the docstring.”</a:t>
            </a:r>
            <a:endParaRPr lang="en-US" sz="1730" dirty="0"/>
          </a:p>
        </p:txBody>
      </p:sp>
      <p:sp>
        <p:nvSpPr>
          <p:cNvPr id="11" name="Text 8"/>
          <p:cNvSpPr txBox="1"/>
          <p:nvPr/>
        </p:nvSpPr>
        <p:spPr>
          <a:xfrm>
            <a:off x="476402" y="4420210"/>
            <a:ext cx="11162995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D. “Remove all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ValueError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checks so the function is shorter.”</a:t>
            </a:r>
            <a:endParaRPr lang="en-US" sz="1730" dirty="0"/>
          </a:p>
        </p:txBody>
      </p:sp>
      <p:sp>
        <p:nvSpPr>
          <p:cNvPr id="12" name="Text 9"/>
          <p:cNvSpPr txBox="1"/>
          <p:nvPr/>
        </p:nvSpPr>
        <p:spPr>
          <a:xfrm>
            <a:off x="152705" y="6409944"/>
            <a:ext cx="26563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3" name="Text 10"/>
          <p:cNvSpPr txBox="1"/>
          <p:nvPr/>
        </p:nvSpPr>
        <p:spPr>
          <a:xfrm>
            <a:off x="3075127" y="6409944"/>
            <a:ext cx="486095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4" name="Text 11"/>
          <p:cNvSpPr txBox="1"/>
          <p:nvPr/>
        </p:nvSpPr>
        <p:spPr>
          <a:xfrm>
            <a:off x="11490350" y="6409944"/>
            <a:ext cx="58704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 of 28</a:t>
            </a:r>
            <a:endParaRPr lang="en-US" sz="114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381537" y="6409944"/>
            <a:ext cx="810158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9486" y="6500470"/>
            <a:ext cx="1127455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Quiz 2: Answer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476402" y="1308506"/>
            <a:ext cx="11162995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you use Copilot Inline Chat (</a:t>
            </a:r>
            <a:pPr algn="l" indent="0" marL="0">
              <a:lnSpc>
                <a:spcPts val="2930"/>
              </a:lnSpc>
              <a:buNone/>
            </a:pPr>
            <a:r>
              <a:rPr lang="en-US" sz="1640" b="1" dirty="0">
                <a:solidFill>
                  <a:srgbClr val="082445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/doc</a:t>
            </a:r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to add docstrings and comments to an existing credit calculation function, what instruction should you include in your prompt?</a:t>
            </a:r>
            <a:endParaRPr lang="en-US" sz="1730" dirty="0"/>
          </a:p>
        </p:txBody>
      </p:sp>
      <p:sp>
        <p:nvSpPr>
          <p:cNvPr id="8" name="Text 5"/>
          <p:cNvSpPr txBox="1"/>
          <p:nvPr/>
        </p:nvSpPr>
        <p:spPr>
          <a:xfrm>
            <a:off x="476402" y="2273198"/>
            <a:ext cx="11162995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Correct: B.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“Add NumPy-style docstrings covering inputs, exclusions, and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ValueError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conditions; do not modify any executable code.”</a:t>
            </a:r>
            <a:endParaRPr lang="en-US" sz="1730" dirty="0"/>
          </a:p>
        </p:txBody>
      </p:sp>
      <p:sp>
        <p:nvSpPr>
          <p:cNvPr id="9" name="Text 6"/>
          <p:cNvSpPr txBox="1"/>
          <p:nvPr/>
        </p:nvSpPr>
        <p:spPr>
          <a:xfrm>
            <a:off x="476402" y="3236976"/>
            <a:ext cx="11162995" cy="74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Explicitly telling Copilot not to touch executable lines prevents silent formula changes during a documentation pass</a:t>
            </a:r>
            <a:endParaRPr lang="en-US" sz="1730" dirty="0"/>
          </a:p>
        </p:txBody>
      </p:sp>
      <p:sp>
        <p:nvSpPr>
          <p:cNvPr id="10" name="Text 7"/>
          <p:cNvSpPr txBox="1"/>
          <p:nvPr/>
        </p:nvSpPr>
        <p:spPr>
          <a:xfrm>
            <a:off x="476402" y="4115714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Always inspect the inline diff in VS Code to verify that only docstring or comment lines were added</a:t>
            </a:r>
            <a:endParaRPr lang="en-US" sz="1730" dirty="0"/>
          </a:p>
        </p:txBody>
      </p:sp>
      <p:sp>
        <p:nvSpPr>
          <p:cNvPr id="11" name="Text 8"/>
          <p:cNvSpPr txBox="1"/>
          <p:nvPr/>
        </p:nvSpPr>
        <p:spPr>
          <a:xfrm>
            <a:off x="476402" y="4621378"/>
            <a:ext cx="11162995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Rerun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pytest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after accepting the docstring to be 100% certain runtime behavior is unchanged</a:t>
            </a:r>
            <a:endParaRPr lang="en-US" sz="1730" dirty="0"/>
          </a:p>
        </p:txBody>
      </p:sp>
      <p:sp>
        <p:nvSpPr>
          <p:cNvPr id="12" name="Text 9"/>
          <p:cNvSpPr txBox="1"/>
          <p:nvPr/>
        </p:nvSpPr>
        <p:spPr>
          <a:xfrm>
            <a:off x="152705" y="6409944"/>
            <a:ext cx="265724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3" name="Text 10"/>
          <p:cNvSpPr txBox="1"/>
          <p:nvPr/>
        </p:nvSpPr>
        <p:spPr>
          <a:xfrm>
            <a:off x="3076042" y="6409944"/>
            <a:ext cx="486369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4" name="Text 11"/>
          <p:cNvSpPr txBox="1"/>
          <p:nvPr/>
        </p:nvSpPr>
        <p:spPr>
          <a:xfrm>
            <a:off x="11495837" y="6409944"/>
            <a:ext cx="58155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of 28</a:t>
            </a:r>
            <a:endParaRPr lang="en-US" sz="114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377879" y="6409944"/>
            <a:ext cx="813816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5829" y="6500470"/>
            <a:ext cx="1127455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Quiz 3 of 3: Discussion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476402" y="1251814"/>
            <a:ext cx="5410505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195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</a:t>
            </a:r>
            <a:endParaRPr lang="en-US" sz="1950" dirty="0"/>
          </a:p>
        </p:txBody>
      </p:sp>
      <p:sp>
        <p:nvSpPr>
          <p:cNvPr id="8" name="Text 5"/>
          <p:cNvSpPr txBox="1"/>
          <p:nvPr/>
        </p:nvSpPr>
        <p:spPr>
          <a:xfrm>
            <a:off x="476402" y="1943100"/>
            <a:ext cx="5410505" cy="2607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teammate needs to prepare a Model Card (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MODEL_CARD.md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and an MRM audit summary (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AUDIT_EVIDENCE.md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for a model pipeline they built with Copilot. They open an empty chat window with no files attached and type: “Write a complete Model Card and MRM audit report for our new credit card delinquency model.”</a:t>
            </a:r>
            <a:endParaRPr lang="en-US" sz="1730" dirty="0"/>
          </a:p>
        </p:txBody>
      </p:sp>
      <p:sp>
        <p:nvSpPr>
          <p:cNvPr id="9" name="Text 6"/>
          <p:cNvSpPr txBox="1"/>
          <p:nvPr/>
        </p:nvSpPr>
        <p:spPr>
          <a:xfrm>
            <a:off x="6229807" y="1251814"/>
            <a:ext cx="5410505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195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</a:t>
            </a:r>
            <a:endParaRPr lang="en-US" sz="1950" dirty="0"/>
          </a:p>
        </p:txBody>
      </p:sp>
      <p:sp>
        <p:nvSpPr>
          <p:cNvPr id="10" name="Text 7"/>
          <p:cNvSpPr txBox="1"/>
          <p:nvPr/>
        </p:nvSpPr>
        <p:spPr>
          <a:xfrm>
            <a:off x="6229807" y="1857146"/>
            <a:ext cx="5409590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will Copilot put into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MODEL_CARD.md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when no code, schema, or metrics files are attached?</a:t>
            </a:r>
            <a:endParaRPr lang="en-US" sz="1580" dirty="0"/>
          </a:p>
        </p:txBody>
      </p:sp>
      <p:sp>
        <p:nvSpPr>
          <p:cNvPr id="11" name="Text 8"/>
          <p:cNvSpPr txBox="1"/>
          <p:nvPr/>
        </p:nvSpPr>
        <p:spPr>
          <a:xfrm>
            <a:off x="6229807" y="2633472"/>
            <a:ext cx="5409590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exact files should they attach with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#file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before prompting?</a:t>
            </a:r>
            <a:endParaRPr lang="en-US" sz="1580" dirty="0"/>
          </a:p>
        </p:txBody>
      </p:sp>
      <p:sp>
        <p:nvSpPr>
          <p:cNvPr id="12" name="Text 9"/>
          <p:cNvSpPr txBox="1"/>
          <p:nvPr/>
        </p:nvSpPr>
        <p:spPr>
          <a:xfrm>
            <a:off x="6229807" y="3409798"/>
            <a:ext cx="5409590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sections of a Model Card can Copilot populate from code, and which sections must be marked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TODO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a human?</a:t>
            </a:r>
            <a:endParaRPr lang="en-US" sz="1580" dirty="0"/>
          </a:p>
        </p:txBody>
      </p:sp>
      <p:sp>
        <p:nvSpPr>
          <p:cNvPr id="13" name="Text 10"/>
          <p:cNvSpPr txBox="1"/>
          <p:nvPr/>
        </p:nvSpPr>
        <p:spPr>
          <a:xfrm>
            <a:off x="152705" y="6409944"/>
            <a:ext cx="26563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4" name="Text 11"/>
          <p:cNvSpPr txBox="1"/>
          <p:nvPr/>
        </p:nvSpPr>
        <p:spPr>
          <a:xfrm>
            <a:off x="3075127" y="6409944"/>
            <a:ext cx="486186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5" name="Text 12"/>
          <p:cNvSpPr txBox="1"/>
          <p:nvPr/>
        </p:nvSpPr>
        <p:spPr>
          <a:xfrm>
            <a:off x="11492179" y="6409944"/>
            <a:ext cx="58613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 of 28</a:t>
            </a:r>
            <a:endParaRPr lang="en-US" sz="114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387938" y="6409944"/>
            <a:ext cx="803758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4058" y="6500470"/>
            <a:ext cx="1127455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Quiz 3: Discussion Points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476402" y="1375258"/>
            <a:ext cx="11162995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teammate needs to prepare a Model Card (</a:t>
            </a:r>
            <a:pPr algn="l" indent="0" marL="0">
              <a:lnSpc>
                <a:spcPts val="2930"/>
              </a:lnSpc>
              <a:buNone/>
            </a:pPr>
            <a:r>
              <a:rPr lang="en-US" sz="1640" b="1" dirty="0">
                <a:solidFill>
                  <a:srgbClr val="082445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MODEL_CARD.md</a:t>
            </a:r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and an MRM audit summary (</a:t>
            </a:r>
            <a:pPr algn="l" indent="0" marL="0">
              <a:lnSpc>
                <a:spcPts val="2930"/>
              </a:lnSpc>
              <a:buNone/>
            </a:pPr>
            <a:r>
              <a:rPr lang="en-US" sz="1640" b="1" dirty="0">
                <a:solidFill>
                  <a:srgbClr val="082445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AUDIT_EVIDENCE.md</a:t>
            </a:r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for a model pipeline they built with Copilot. They open an empty chat window with no files attached and type: “Write a complete Model Card and MRM audit report for our new credit card delinquency model.”</a:t>
            </a:r>
            <a:endParaRPr lang="en-US" sz="1730" dirty="0"/>
          </a:p>
        </p:txBody>
      </p:sp>
      <p:sp>
        <p:nvSpPr>
          <p:cNvPr id="8" name="Text 5"/>
          <p:cNvSpPr txBox="1"/>
          <p:nvPr/>
        </p:nvSpPr>
        <p:spPr>
          <a:xfrm>
            <a:off x="476402" y="3180283"/>
            <a:ext cx="5410505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195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Answers Mention</a:t>
            </a:r>
            <a:endParaRPr lang="en-US" sz="1950" dirty="0"/>
          </a:p>
        </p:txBody>
      </p:sp>
      <p:sp>
        <p:nvSpPr>
          <p:cNvPr id="9" name="Text 6"/>
          <p:cNvSpPr txBox="1"/>
          <p:nvPr/>
        </p:nvSpPr>
        <p:spPr>
          <a:xfrm>
            <a:off x="476402" y="3785616"/>
            <a:ext cx="540959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attached files, Copilot will hallucinate feature names, split dates, hyperparameter values, and validation metrics</a:t>
            </a:r>
            <a:endParaRPr lang="en-US" sz="1580" dirty="0"/>
          </a:p>
        </p:txBody>
      </p:sp>
      <p:sp>
        <p:nvSpPr>
          <p:cNvPr id="10" name="Text 7"/>
          <p:cNvSpPr txBox="1"/>
          <p:nvPr/>
        </p:nvSpPr>
        <p:spPr>
          <a:xfrm>
            <a:off x="476402" y="4879238"/>
            <a:ext cx="540959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Attach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#file schema.md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#file train_baseline.py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#file test_risk_rollup.py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#file metrics_output.json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(plus the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pytest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terminal output)</a:t>
            </a:r>
            <a:endParaRPr lang="en-US" sz="1580" dirty="0"/>
          </a:p>
        </p:txBody>
      </p:sp>
      <p:sp>
        <p:nvSpPr>
          <p:cNvPr id="11" name="Text 8"/>
          <p:cNvSpPr txBox="1"/>
          <p:nvPr/>
        </p:nvSpPr>
        <p:spPr>
          <a:xfrm>
            <a:off x="476402" y="6302045"/>
            <a:ext cx="5409590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Copilot can extract the exact feature list, preprocessing steps, estimator settings, and JSON metrics from those files</a:t>
            </a:r>
            <a:endParaRPr lang="en-US" sz="1580" dirty="0"/>
          </a:p>
        </p:txBody>
      </p:sp>
      <p:sp>
        <p:nvSpPr>
          <p:cNvPr id="12" name="Text 9"/>
          <p:cNvSpPr txBox="1"/>
          <p:nvPr/>
        </p:nvSpPr>
        <p:spPr>
          <a:xfrm>
            <a:off x="6229807" y="3180283"/>
            <a:ext cx="5410505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195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For</a:t>
            </a:r>
            <a:endParaRPr lang="en-US" sz="1950" dirty="0"/>
          </a:p>
        </p:txBody>
      </p:sp>
      <p:sp>
        <p:nvSpPr>
          <p:cNvPr id="13" name="Text 10"/>
          <p:cNvSpPr txBox="1"/>
          <p:nvPr/>
        </p:nvSpPr>
        <p:spPr>
          <a:xfrm>
            <a:off x="6229807" y="3785616"/>
            <a:ext cx="54095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Treating fluent, AI-invented AUC or KS numbers in a Model Card as real validation results</a:t>
            </a:r>
            <a:endParaRPr lang="en-US" sz="1580" dirty="0"/>
          </a:p>
        </p:txBody>
      </p:sp>
      <p:sp>
        <p:nvSpPr>
          <p:cNvPr id="14" name="Text 11"/>
          <p:cNvSpPr txBox="1"/>
          <p:nvPr/>
        </p:nvSpPr>
        <p:spPr>
          <a:xfrm>
            <a:off x="6229807" y="4559198"/>
            <a:ext cx="54095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Letting Copilot write “Status: Approved for Production” in the generated document</a:t>
            </a:r>
            <a:endParaRPr lang="en-US" sz="1580" dirty="0"/>
          </a:p>
        </p:txBody>
      </p:sp>
      <p:sp>
        <p:nvSpPr>
          <p:cNvPr id="15" name="Text 12"/>
          <p:cNvSpPr txBox="1"/>
          <p:nvPr/>
        </p:nvSpPr>
        <p:spPr>
          <a:xfrm>
            <a:off x="6229807" y="5332781"/>
            <a:ext cx="5409590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Forgetting to create a reusable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.github/prompts/mrm-evidence.prompt.md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file for the team</a:t>
            </a:r>
            <a:endParaRPr lang="en-US" sz="1580" dirty="0"/>
          </a:p>
        </p:txBody>
      </p:sp>
      <p:sp>
        <p:nvSpPr>
          <p:cNvPr id="16" name="Text 13"/>
          <p:cNvSpPr txBox="1"/>
          <p:nvPr/>
        </p:nvSpPr>
        <p:spPr>
          <a:xfrm>
            <a:off x="152705" y="6409944"/>
            <a:ext cx="265907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7" name="Text 14"/>
          <p:cNvSpPr txBox="1"/>
          <p:nvPr/>
        </p:nvSpPr>
        <p:spPr>
          <a:xfrm>
            <a:off x="3077870" y="6409944"/>
            <a:ext cx="4866437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8" name="Text 15"/>
          <p:cNvSpPr txBox="1"/>
          <p:nvPr/>
        </p:nvSpPr>
        <p:spPr>
          <a:xfrm>
            <a:off x="11502238" y="6409944"/>
            <a:ext cx="5760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 of 28</a:t>
            </a:r>
            <a:endParaRPr lang="en-US" sz="114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377879" y="6409944"/>
            <a:ext cx="813816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49701" y="1194206"/>
            <a:ext cx="5015484" cy="501548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5829" y="6500470"/>
            <a:ext cx="1127455" cy="2670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 and Answers</a:t>
            </a:r>
            <a:endParaRPr lang="en-US" sz="3300" dirty="0"/>
          </a:p>
        </p:txBody>
      </p:sp>
      <p:sp>
        <p:nvSpPr>
          <p:cNvPr id="8" name="Text 4"/>
          <p:cNvSpPr txBox="1"/>
          <p:nvPr/>
        </p:nvSpPr>
        <p:spPr>
          <a:xfrm>
            <a:off x="152705" y="6409944"/>
            <a:ext cx="26563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9" name="Text 5"/>
          <p:cNvSpPr txBox="1"/>
          <p:nvPr/>
        </p:nvSpPr>
        <p:spPr>
          <a:xfrm>
            <a:off x="3075127" y="6409944"/>
            <a:ext cx="486186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0" name="Text 6"/>
          <p:cNvSpPr txBox="1"/>
          <p:nvPr/>
        </p:nvSpPr>
        <p:spPr>
          <a:xfrm>
            <a:off x="11492179" y="6409944"/>
            <a:ext cx="58613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 of 28</a:t>
            </a:r>
            <a:endParaRPr lang="en-US" sz="11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Copilot for Credit Analytics and Risk Modeling</dc:title>
  <dc:subject>GitHub Copilot for Credit Analytics and Risk Modeling</dc:subject>
  <dc:creator>ROI Training</dc:creator>
  <cp:lastModifiedBy>ROI Training</cp:lastModifiedBy>
  <cp:revision>1</cp:revision>
  <dcterms:created xsi:type="dcterms:W3CDTF">2026-10-21T17:09:12Z</dcterms:created>
  <dcterms:modified xsi:type="dcterms:W3CDTF">2026-10-21T17:09:12Z</dcterms:modified>
</cp:coreProperties>
</file>