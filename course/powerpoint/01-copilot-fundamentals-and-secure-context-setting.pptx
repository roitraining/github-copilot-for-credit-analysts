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437998"/>
            <a:ext cx="3146450" cy="571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56" y="6500470"/>
            <a:ext cx="1468526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6598" y="4131259"/>
            <a:ext cx="719358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180" b="1" dirty="0">
                <a:solidFill>
                  <a:srgbClr val="B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2180" dirty="0"/>
          </a:p>
        </p:txBody>
      </p:sp>
      <p:sp>
        <p:nvSpPr>
          <p:cNvPr id="8" name="Text 4"/>
          <p:cNvSpPr txBox="1"/>
          <p:nvPr/>
        </p:nvSpPr>
        <p:spPr>
          <a:xfrm>
            <a:off x="666598" y="4733849"/>
            <a:ext cx="10858500" cy="119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1: Copilot Fundamentals and Secure Context-Setting</a:t>
            </a:r>
            <a:endParaRPr lang="en-US" sz="3750" dirty="0"/>
          </a:p>
        </p:txBody>
      </p:sp>
      <p:sp>
        <p:nvSpPr>
          <p:cNvPr id="9" name="Text 5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6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7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42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1: Objectives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Copilot from VS Code, the website, and the Copilot app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safe prompts and control prompt context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1983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Inline, Chat, or Agent modes when generating code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549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team defaults, slash commands, and domain playbooks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prompt files, and Agent Skills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42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Copilot Runs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619195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in VS Code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Context, Instructions, and Reuse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42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4927702"/>
            <a:ext cx="11162995" cy="1282903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927702"/>
            <a:ext cx="38405" cy="1282903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Work Belongs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completions, Chat, and Agent mode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2630729"/>
            <a:ext cx="3517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Diffs, tests, and file-scoped edits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3084271"/>
            <a:ext cx="3517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production changes land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4298594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4299509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u="sng" dirty="0">
                <a:solidFill>
                  <a:srgbClr val="1E7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github.com/copilot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quick questions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4299509" y="2630729"/>
            <a:ext cx="3517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before you open the repo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4299509" y="3084271"/>
            <a:ext cx="3517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place to merge code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8121701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1950" dirty="0"/>
          </a:p>
        </p:txBody>
      </p:sp>
      <p:sp>
        <p:nvSpPr>
          <p:cNvPr id="18" name="Text 15"/>
          <p:cNvSpPr txBox="1"/>
          <p:nvPr/>
        </p:nvSpPr>
        <p:spPr>
          <a:xfrm>
            <a:off x="8121701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and mobile for a draft thought</a:t>
            </a:r>
            <a:endParaRPr lang="en-US" sz="1580" dirty="0"/>
          </a:p>
        </p:txBody>
      </p:sp>
      <p:sp>
        <p:nvSpPr>
          <p:cNvPr id="19" name="Text 16"/>
          <p:cNvSpPr txBox="1"/>
          <p:nvPr/>
        </p:nvSpPr>
        <p:spPr>
          <a:xfrm>
            <a:off x="8121701" y="2630729"/>
            <a:ext cx="3517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test run, no diff, no approval</a:t>
            </a:r>
            <a:endParaRPr lang="en-US" sz="1580" dirty="0"/>
          </a:p>
        </p:txBody>
      </p:sp>
      <p:sp>
        <p:nvSpPr>
          <p:cNvPr id="20" name="Text 17"/>
          <p:cNvSpPr txBox="1"/>
          <p:nvPr/>
        </p:nvSpPr>
        <p:spPr>
          <a:xfrm>
            <a:off x="8121701" y="3084271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idea into VS Code before you trust it</a:t>
            </a:r>
            <a:endParaRPr lang="en-US" sz="158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042002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504688"/>
            <a:ext cx="107826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GitHub docs call these places “Surfaces”</a:t>
            </a:r>
            <a:endParaRPr lang="en-US" sz="1730" dirty="0"/>
          </a:p>
        </p:txBody>
      </p:sp>
      <p:sp>
        <p:nvSpPr>
          <p:cNvPr id="23" name="Text 2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4" name="Text 2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5" name="Text 2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42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415845"/>
            <a:ext cx="11162995" cy="629107"/>
          </a:xfrm>
          <a:prstGeom prst="roundRect">
            <a:avLst>
              <a:gd name="adj" fmla="val 12064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656125"/>
            <a:ext cx="11162995" cy="629107"/>
          </a:xfrm>
          <a:prstGeom prst="roundRect">
            <a:avLst>
              <a:gd name="adj" fmla="val 12064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5475427"/>
            <a:ext cx="11162995" cy="1382573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7" name="Shape 5"/>
          <p:cNvSpPr/>
          <p:nvPr/>
        </p:nvSpPr>
        <p:spPr>
          <a:xfrm>
            <a:off x="476402" y="5475427"/>
            <a:ext cx="38405" cy="1382573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Using the Copilot Website</a:t>
            </a:r>
            <a:endParaRPr lang="en-US" sz="330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pPr algn="l" indent="0" marL="0">
              <a:lnSpc>
                <a:spcPts val="2930"/>
              </a:lnSpc>
              <a:buNone/>
            </a:pPr>
            <a:r>
              <a:rPr lang="en-US" sz="1730" u="sng" dirty="0">
                <a:solidFill>
                  <a:srgbClr val="1E7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github.com/copilot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following prompt, and read the results.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629107" y="2567635"/>
            <a:ext cx="108585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What is the difference between Copilot Chat and inline suggestions in VS Code?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6402" y="3035808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6402" y="3295498"/>
            <a:ext cx="11162995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9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the bottom of the chat, open the model menu and choose a different model.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30" dirty="0"/>
          </a:p>
        </p:txBody>
      </p:sp>
      <p:sp>
        <p:nvSpPr>
          <p:cNvPr id="16" name="Text 13"/>
          <p:cNvSpPr txBox="1"/>
          <p:nvPr/>
        </p:nvSpPr>
        <p:spPr>
          <a:xfrm>
            <a:off x="476402" y="3975811"/>
            <a:ext cx="11162995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9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this prompt: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30" dirty="0"/>
          </a:p>
        </p:txBody>
      </p:sp>
      <p:sp>
        <p:nvSpPr>
          <p:cNvPr id="17" name="Text 14"/>
          <p:cNvSpPr txBox="1"/>
          <p:nvPr/>
        </p:nvSpPr>
        <p:spPr>
          <a:xfrm>
            <a:off x="629107" y="4808830"/>
            <a:ext cx="108585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 have a CSV of credit accounts with balance, utilization, and delinquency_days. Which summary statistics should I compute first, and what would a bad value look like?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76402" y="5276088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589727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6052414"/>
            <a:ext cx="1078260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Compare the two answers. The second one should include count, missing values, min, max, and mean, and flag blank utilization or delinquency_days values that are obviously wrong or unusually long.</a:t>
            </a:r>
            <a:endParaRPr lang="en-US" sz="1730" dirty="0"/>
          </a:p>
        </p:txBody>
      </p:sp>
      <p:sp>
        <p:nvSpPr>
          <p:cNvPr id="21" name="Text 1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2" name="Text 1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3" name="Text 2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42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1118311"/>
            <a:ext cx="876361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Website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42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4038905"/>
            <a:ext cx="11162995" cy="2819095"/>
          </a:xfrm>
          <a:prstGeom prst="roundRect">
            <a:avLst>
              <a:gd name="adj" fmla="val 2692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Using Copilot in Visual Studio Code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Visual Studio Code. Choose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File&gt; Open Folder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open an empty folder. </a:t>
            </a:r>
            <a:pPr algn="l" indent="0" marL="0">
              <a:lnSpc>
                <a:spcPts val="2930"/>
              </a:lnSpc>
              <a:buNone/>
            </a:pPr>
            <a:r>
              <a:rPr lang="en-US" sz="1730" i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create an empty folder anywhere on your computer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187245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Copilot Chat from the Copilot icon in the title bar. Notice that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&lt;/&gt; Agent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selected at the bottom of the chat input box by default.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065069"/>
            <a:ext cx="11162995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prompt below and press ENTER. If asked, allow Copilot to create the files requested in the prompt.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4190695"/>
            <a:ext cx="10858500" cy="266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 two files in this folder.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sample_accounts.csv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Columns: account_id, balance, utilization, delinquency_days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- 12 realistic credit-card rows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Leave utilization blank on 2 rows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Set one delinquency_days value to 9999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stats.html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One page I can open in a browser. No server and no install.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An Upload CSV button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After upload, show the row count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For every column, show how many values are missing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For every numeric column, show min, max, and mean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Make the results a clear table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684885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42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1118311"/>
            <a:ext cx="7900416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Studio Code with Copilot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42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268742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the Copilot Chat Box in VS Code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+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(Add Context)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Attach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references, folders, or symbols to your prompt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187245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&lt;/&gt; Agent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(SHIFT+CMD+I / CTRL+SHIFT+I)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Unified workspace agent that can answer questions, edit files, and run terminal commands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438144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Auto | Balance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Selects the underlying model (or lets Copilot pick automatically)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4316882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toolbar icons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Switch between the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(Copilot),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Mode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(speech bubble), and live session tools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42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98910" y="6409944"/>
            <a:ext cx="79278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18672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117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Choosing an Agent Mode: Interactive, Plan, or Autopilot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338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the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bubble icon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below the chat input box to control how Agent mode collaborates with you: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781812" y="2091233"/>
            <a:ext cx="570585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(Default)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Step-by-step collaboration where you review diffs and approve actions as Copilot works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781812" y="3208630"/>
            <a:ext cx="570585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Builds a step-by-step plan first and waits to execute until you are ready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781812" y="3952951"/>
            <a:ext cx="570585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Autopilot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Works autonomously across steps within the permissions you set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476402" y="4831690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 (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Manual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Keep set to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credit analytics so Copilot always asks before running terminal commands or touching sensitive files</a:t>
            </a:r>
            <a:endParaRPr lang="en-US" sz="1730" dirty="0"/>
          </a:p>
        </p:txBody>
      </p:sp>
      <p:sp>
        <p:nvSpPr>
          <p:cNvPr id="13" name="Text 9"/>
          <p:cNvSpPr txBox="1"/>
          <p:nvPr/>
        </p:nvSpPr>
        <p:spPr>
          <a:xfrm>
            <a:off x="152705" y="6409944"/>
            <a:ext cx="26618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0"/>
          <p:cNvSpPr txBox="1"/>
          <p:nvPr/>
        </p:nvSpPr>
        <p:spPr>
          <a:xfrm>
            <a:off x="3080614" y="6409944"/>
            <a:ext cx="487192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1"/>
          <p:cNvSpPr txBox="1"/>
          <p:nvPr/>
        </p:nvSpPr>
        <p:spPr>
          <a:xfrm>
            <a:off x="11513210" y="6409944"/>
            <a:ext cx="56418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of 42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272308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Selecting a Harness in VS Code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2272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bottom-left corner of the chat panel to choose where and how the agent runs: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781812" y="2091233"/>
            <a:ext cx="570585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Copilot/Local/Cloud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Run with GitHub Copilot in your local VS Code session or in a cloud workspace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781812" y="2836469"/>
            <a:ext cx="570585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Claude/Codex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Switch to alternative agent harnesses if enabled for your organization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3714293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all exercises in this course, keep the harness set to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Agent mode set to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42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5311" y="6409944"/>
            <a:ext cx="78638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3810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Data Leakage in Prompts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 leaves your computer. Copilot sends it to the model and stores it with the chat.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2187245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paste names, account IDs, Social Security numbers, or real customer rows.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065069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paste column names, a few rows you invented, and the cutoff as a parameter.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3942893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would not email it outside the company, do not paste it into Copilot.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2442" y="6409944"/>
            <a:ext cx="48746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19611" y="6409944"/>
            <a:ext cx="5577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42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3482" y="6409944"/>
            <a:ext cx="78821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Ask vs Safe Ask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“Here are our customers’ names, account numbers, and Social Security numbers. Find who is behind on payments.”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950769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“This spreadsheet is a real export from our system. Tell me which accounts to close.”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724351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“Use last month’s customer list and decide who we should turn down.”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“Here are the column names and 10 rows I made up. Draft code that scores accounts.”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630729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“Keep the cutoff as a number I can change.”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084271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“List what you assumed. Do not invent columns.”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17782" y="6409944"/>
            <a:ext cx="5596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of 42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415845"/>
            <a:ext cx="11162995" cy="629107"/>
          </a:xfrm>
          <a:prstGeom prst="roundRect">
            <a:avLst>
              <a:gd name="adj" fmla="val 12064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847234"/>
            <a:ext cx="11162995" cy="1282903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4847234"/>
            <a:ext cx="38405" cy="1282903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7" name="Shape 5"/>
          <p:cNvSpPr/>
          <p:nvPr/>
        </p:nvSpPr>
        <p:spPr>
          <a:xfrm>
            <a:off x="11398910" y="6409944"/>
            <a:ext cx="79278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4117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Inline Completion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create a file named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fizz_buzz.py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181508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this line, press ENTER, and pause.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629107" y="2568550"/>
            <a:ext cx="108585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def fizz_buzz(n):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6402" y="3035808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6402" y="323514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for the gray ghost text.</a:t>
            </a:r>
            <a:endParaRPr lang="en-US" sz="1730" dirty="0"/>
          </a:p>
        </p:txBody>
      </p:sp>
      <p:sp>
        <p:nvSpPr>
          <p:cNvPr id="15" name="Text 12"/>
          <p:cNvSpPr txBox="1"/>
          <p:nvPr/>
        </p:nvSpPr>
        <p:spPr>
          <a:xfrm>
            <a:off x="476402" y="374081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TAB to accept it.</a:t>
            </a:r>
            <a:endParaRPr lang="en-US" sz="1730" dirty="0"/>
          </a:p>
        </p:txBody>
      </p:sp>
      <p:sp>
        <p:nvSpPr>
          <p:cNvPr id="16" name="Text 13"/>
          <p:cNvSpPr txBox="1"/>
          <p:nvPr/>
        </p:nvSpPr>
        <p:spPr>
          <a:xfrm>
            <a:off x="476402" y="42464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inserted code. Undo it if it is not the loop you wanted.</a:t>
            </a:r>
            <a:endParaRPr lang="en-US" sz="173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961534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424221"/>
            <a:ext cx="107826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Ghost text requires Copilot completions. If nothing appears, check the Copilot icon in the status bar.</a:t>
            </a:r>
            <a:endParaRPr lang="en-US" sz="1730" dirty="0"/>
          </a:p>
        </p:txBody>
      </p:sp>
      <p:sp>
        <p:nvSpPr>
          <p:cNvPr id="19" name="Text 16"/>
          <p:cNvSpPr txBox="1"/>
          <p:nvPr/>
        </p:nvSpPr>
        <p:spPr>
          <a:xfrm>
            <a:off x="152705" y="6409944"/>
            <a:ext cx="26618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3080614" y="6409944"/>
            <a:ext cx="487192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1" name="Text 18"/>
          <p:cNvSpPr txBox="1"/>
          <p:nvPr/>
        </p:nvSpPr>
        <p:spPr>
          <a:xfrm>
            <a:off x="11513210" y="6409944"/>
            <a:ext cx="56418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of 42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7140" y="6409944"/>
            <a:ext cx="78455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235915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518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Accepting an Inline Suggestion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190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gray text before you press a key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781812" y="1719072"/>
            <a:ext cx="570585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TAB only when you understand it and it is what you meant to write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781812" y="2464308"/>
            <a:ext cx="570585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ESC when it is wrong, or when you do not understand it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3342132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only the start is right, accept that part. On a Mac, press CMD+Right; on Windows, press CTRL+Right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476402" y="4219956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ask for an edit right inside the file, select the lines and press CMD+I (Mac) or CTRL+I (Windows) to open Inline Chat</a:t>
            </a:r>
            <a:endParaRPr lang="en-US" sz="1730" dirty="0"/>
          </a:p>
        </p:txBody>
      </p:sp>
      <p:sp>
        <p:nvSpPr>
          <p:cNvPr id="13" name="Text 9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0"/>
          <p:cNvSpPr txBox="1"/>
          <p:nvPr/>
        </p:nvSpPr>
        <p:spPr>
          <a:xfrm>
            <a:off x="3082442" y="6409944"/>
            <a:ext cx="487558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1"/>
          <p:cNvSpPr txBox="1"/>
          <p:nvPr/>
        </p:nvSpPr>
        <p:spPr>
          <a:xfrm>
            <a:off x="11521440" y="6409944"/>
            <a:ext cx="556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of 42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6409944"/>
            <a:ext cx="78912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Copilot Runs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in VS Code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619195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Context, Instructions, and Reuse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771900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516868" y="6409944"/>
            <a:ext cx="5605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42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12626" y="6409944"/>
            <a:ext cx="779069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00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Inline, Chat, or Agent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54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4271" y="6409944"/>
            <a:ext cx="48783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26926" y="6409944"/>
            <a:ext cx="55046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42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4182466"/>
            <a:ext cx="11162995" cy="2028139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182466"/>
            <a:ext cx="38405" cy="2028139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6" name="Shape 4"/>
          <p:cNvSpPr/>
          <p:nvPr/>
        </p:nvSpPr>
        <p:spPr>
          <a:xfrm>
            <a:off x="11402568" y="6409944"/>
            <a:ext cx="78912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Slash Commands Worth Memorizing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857146"/>
            <a:ext cx="35176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function and ask what it assumes, including how it treats blank values.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298594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4299509" y="1857146"/>
            <a:ext cx="351769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cases, including an empty input, a missing column, and which accounts count.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8121701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85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8121701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error and ask it to change only the lines that failed.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296766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759452"/>
            <a:ext cx="10782605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Copilot slash commands may not appear when you type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Chat. Availability depends on version, surface, and context. Typing a slash command (</a:t>
            </a:r>
            <a:pPr algn="l" indent="0" marL="0">
              <a:lnSpc>
                <a:spcPts val="2930"/>
              </a:lnSpc>
              <a:buNone/>
            </a:pPr>
            <a:r>
              <a:rPr lang="en-US" sz="1730" i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the same request in plain English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still works. The AI treats it as a normal prompt.</a:t>
            </a:r>
            <a:endParaRPr lang="en-US" sz="1730" dirty="0"/>
          </a:p>
        </p:txBody>
      </p:sp>
      <p:sp>
        <p:nvSpPr>
          <p:cNvPr id="17" name="Text 14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1516868" y="6409944"/>
            <a:ext cx="5605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of 42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6409944"/>
            <a:ext cx="789127" cy="448056"/>
          </a:xfrm>
          <a:prstGeom prst="rect">
            <a:avLst/>
          </a:prstGeom>
          <a:solidFill>
            <a:srgbClr val="1E71D6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402" y="1308506"/>
          <a:ext cx="11162995" cy="3667658"/>
        </p:xfrm>
        <a:graphic>
          <a:graphicData uri="http://schemas.openxmlformats.org/drawingml/2006/table">
            <a:tbl>
              <a:tblPr/>
              <a:tblGrid>
                <a:gridCol w="3720694"/>
                <a:gridCol w="3720694"/>
                <a:gridCol w="3720694"/>
              </a:tblGrid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Command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to use it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2445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/explain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Explains how selected code works and what it assumes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editing unfamiliar Python, SQL, or legacy SAS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/tests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Generates unit tests for the selected function or file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Adding pytest coverage for normal and edge cases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/fix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Proposes a targeted fix for an error or failing block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Pasting a traceback or fixing a broken calculation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/doc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Generates docstrings and inline comments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Documenting inputs, outputs, and rules on a function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/clear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Clears the current chat history and starts fresh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Switching tasks so old context does not pollute the next prompt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/new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Scaffolds a new workspace, file, or notebook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Starting a new project structure or Jupyter notebook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/help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Lists all available slash commands and chat participants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Checking exact command names and syntax in VS Code</a:t>
                      </a:r>
                      <a:endParaRPr lang="en-US" sz="12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3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Slash Commands in VS Code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516868" y="6409944"/>
            <a:ext cx="5605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42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0564" y="6409944"/>
            <a:ext cx="821131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0" y="1527962"/>
            <a:ext cx="3810305" cy="27523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28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Browse Available Commands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476402" y="1308506"/>
            <a:ext cx="60112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 not have to memorize every slash command</a:t>
            </a:r>
            <a:endParaRPr lang="en-US" sz="173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1814170"/>
            <a:ext cx="6011266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Copilot Chat input box to open the autocomplete menu with each command and its description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76402" y="3065069"/>
            <a:ext cx="6011266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typing to filter the list, or use the Up and Down arrow keys and press TAB or ENTER to select one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76402" y="3943807"/>
            <a:ext cx="601126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team prompt files (in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also appear right in this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menu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73298" y="6409944"/>
            <a:ext cx="48582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484864" y="6409944"/>
            <a:ext cx="59253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42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5311" y="6409944"/>
            <a:ext cx="78638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60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Prompt vs Strong Prompt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“Analyze this data.”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10689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“Make a chart.”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764231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“Fix the bug.”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“Read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sample_accounts.csv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row is one credit account. Print the average of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balance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skip blank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utilization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rows.”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959913"/>
            <a:ext cx="5409590" cy="966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“Bar chart of delinquent accounts by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risk_band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Put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risk_band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x-axis and account count on the y-axis.”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4059936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average()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crashes on an empty list. Return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None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an empty list, and do not change any other function.”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6364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82442" y="6409944"/>
            <a:ext cx="48746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519611" y="6409944"/>
            <a:ext cx="5577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of 42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308506"/>
            <a:ext cx="11162995" cy="3066898"/>
          </a:xfrm>
          <a:prstGeom prst="roundRect">
            <a:avLst>
              <a:gd name="adj" fmla="val 2475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6965" y="6409944"/>
            <a:ext cx="814730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914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File-Scoped Prompt You Will Reuse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629107" y="1461211"/>
            <a:ext cx="10858500" cy="2762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Task: Add a delinquency trend helper.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Use: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#file src/analytics/delinquency.py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#file tests/test_delinquency.py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Output: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Edit only those two files.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Add tests for an empty frame and a missing risk_band.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Stop: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If you are not sure what one row represents, list assumptions and do not edit.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402" y="4366260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2" name="Text 9"/>
          <p:cNvSpPr txBox="1"/>
          <p:nvPr/>
        </p:nvSpPr>
        <p:spPr>
          <a:xfrm>
            <a:off x="11491265" y="6409944"/>
            <a:ext cx="5861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of 42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4927702"/>
            <a:ext cx="11162995" cy="1282903"/>
          </a:xfrm>
          <a:prstGeom prst="rect">
            <a:avLst/>
          </a:prstGeom>
          <a:solidFill>
            <a:srgbClr val="EFF3F7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4927702"/>
            <a:ext cx="38405" cy="1282903"/>
          </a:xfrm>
          <a:prstGeom prst="rect">
            <a:avLst/>
          </a:prstGeom>
          <a:solidFill>
            <a:srgbClr val="9A67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74222" y="6409944"/>
            <a:ext cx="8174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086" y="6500470"/>
            <a:ext cx="1127455" cy="2670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Another Prompt Will Not Help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left out a rule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chose which accounts count, because you did not say.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2630729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that rule, then prompt again.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4298594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edited the wrong file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4299509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changed a file you did not name.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4299509" y="2630729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the prompt again with the file names.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8121701" y="1251814"/>
            <a:ext cx="3517697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made a business decision</a:t>
            </a:r>
            <a:endParaRPr lang="en-US" sz="1950" dirty="0"/>
          </a:p>
        </p:txBody>
      </p:sp>
      <p:sp>
        <p:nvSpPr>
          <p:cNvPr id="16" name="Text 13"/>
          <p:cNvSpPr txBox="1"/>
          <p:nvPr/>
        </p:nvSpPr>
        <p:spPr>
          <a:xfrm>
            <a:off x="8121701" y="1857146"/>
            <a:ext cx="35176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recommended a cutoff or who to decline.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8121701" y="2630729"/>
            <a:ext cx="3517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choice stays with you.</a:t>
            </a:r>
            <a:endParaRPr lang="en-US" sz="158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042002"/>
            <a:ext cx="1078260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9A6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Warning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504688"/>
            <a:ext cx="107826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human always has to understand and be in charge of all code changes.</a:t>
            </a:r>
            <a:endParaRPr lang="en-US" sz="1730" dirty="0"/>
          </a:p>
        </p:txBody>
      </p:sp>
      <p:sp>
        <p:nvSpPr>
          <p:cNvPr id="20" name="Text 17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3074213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2" name="Text 19"/>
          <p:cNvSpPr txBox="1"/>
          <p:nvPr/>
        </p:nvSpPr>
        <p:spPr>
          <a:xfrm>
            <a:off x="11488522" y="6409944"/>
            <a:ext cx="5888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42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0182"/>
            <a:ext cx="11162995" cy="2457907"/>
          </a:xfrm>
          <a:prstGeom prst="roundRect">
            <a:avLst>
              <a:gd name="adj" fmla="val 3088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5159045"/>
            <a:ext cx="11162995" cy="629107"/>
          </a:xfrm>
          <a:prstGeom prst="roundRect">
            <a:avLst>
              <a:gd name="adj" fmla="val 12064"/>
            </a:avLst>
          </a:prstGeom>
          <a:solidFill>
            <a:srgbClr val="F2F8FF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6580022"/>
            <a:ext cx="11162995" cy="277978"/>
          </a:xfrm>
          <a:prstGeom prst="roundRect">
            <a:avLst>
              <a:gd name="adj" fmla="val 27303"/>
            </a:avLst>
          </a:prstGeom>
          <a:solidFill>
            <a:srgbClr val="F2F8FF"/>
          </a:solidFill>
          <a:ln/>
        </p:spPr>
      </p:sp>
      <p:sp>
        <p:nvSpPr>
          <p:cNvPr id="7" name="Shape 5"/>
          <p:cNvSpPr/>
          <p:nvPr/>
        </p:nvSpPr>
        <p:spPr>
          <a:xfrm>
            <a:off x="11372393" y="6409944"/>
            <a:ext cx="8193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Explain, Tests, and Fix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Code, create a file named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average.py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Then, paste this code and save the file.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29107" y="2062886"/>
            <a:ext cx="10858500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def average(numbers):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total = 0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for n in numbers: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    total = total + n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   return total / len(numbers)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print(average([]))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6402" y="435894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6402" y="4558284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average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function. Then, open Copilot Chat and paste the following prompt.</a:t>
            </a:r>
            <a:endParaRPr lang="en-US" sz="1730" dirty="0"/>
          </a:p>
        </p:txBody>
      </p:sp>
      <p:sp>
        <p:nvSpPr>
          <p:cNvPr id="14" name="Text 11"/>
          <p:cNvSpPr txBox="1"/>
          <p:nvPr/>
        </p:nvSpPr>
        <p:spPr>
          <a:xfrm>
            <a:off x="629107" y="5311750"/>
            <a:ext cx="108585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 What does this function assume, and what happens when the list is empty?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6402" y="5779008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6402" y="5978347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Font typeface="+mj-lt"/>
              <a:buAutoNum type="arabicPeriod" startAt="1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reply before you continue, and then paste this prompt.</a:t>
            </a:r>
            <a:endParaRPr lang="en-US" sz="1730" dirty="0"/>
          </a:p>
        </p:txBody>
      </p:sp>
      <p:sp>
        <p:nvSpPr>
          <p:cNvPr id="17" name="Text 14"/>
          <p:cNvSpPr txBox="1"/>
          <p:nvPr/>
        </p:nvSpPr>
        <p:spPr>
          <a:xfrm>
            <a:off x="629107" y="6731813"/>
            <a:ext cx="1085850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 Include a normal list and an empty list.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76402" y="684885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0" name="Text 17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1" name="Text 18"/>
          <p:cNvSpPr txBox="1"/>
          <p:nvPr/>
        </p:nvSpPr>
        <p:spPr>
          <a:xfrm>
            <a:off x="11486693" y="6409944"/>
            <a:ext cx="5907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of 42</a:t>
            </a:r>
            <a:endParaRPr lang="en-US" sz="11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7879" y="6409944"/>
            <a:ext cx="81381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6743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Concepts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2681021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Copilot Runs</a:t>
            </a:r>
            <a:endParaRPr lang="en-US" sz="1880" dirty="0"/>
          </a:p>
        </p:txBody>
      </p:sp>
      <p:sp>
        <p:nvSpPr>
          <p:cNvPr id="8" name="Shape 5"/>
          <p:cNvSpPr/>
          <p:nvPr/>
        </p:nvSpPr>
        <p:spPr>
          <a:xfrm>
            <a:off x="3771900" y="3161995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71900" y="3380537"/>
            <a:ext cx="457200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dirty="0">
                <a:solidFill>
                  <a:srgbClr val="8B9B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Prompting in VS Code</a:t>
            </a:r>
            <a:endParaRPr lang="en-US" sz="1880" dirty="0"/>
          </a:p>
        </p:txBody>
      </p:sp>
      <p:sp>
        <p:nvSpPr>
          <p:cNvPr id="10" name="Shape 7"/>
          <p:cNvSpPr/>
          <p:nvPr/>
        </p:nvSpPr>
        <p:spPr>
          <a:xfrm>
            <a:off x="3771900" y="386242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080967"/>
            <a:ext cx="4267505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188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Context, Instructions, and Reuse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3619195" y="4562856"/>
            <a:ext cx="4572000" cy="9144"/>
          </a:xfrm>
          <a:prstGeom prst="rect">
            <a:avLst/>
          </a:prstGeom>
          <a:solidFill>
            <a:srgbClr val="E3EAF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2705" y="6409944"/>
            <a:ext cx="26563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5127" y="6409944"/>
            <a:ext cx="486186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92179" y="6409944"/>
            <a:ext cx="585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42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4222" y="6409944"/>
            <a:ext cx="8174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118311"/>
            <a:ext cx="9052560" cy="509229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086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Smallest Context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74213" y="6409944"/>
            <a:ext cx="48600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488522" y="6409944"/>
            <a:ext cx="5897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of 42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6409944"/>
            <a:ext cx="80741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15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You Point Copilot at Code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function. Chat uses that selection.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choose the file. Add the test file when you want tests.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20747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@workspace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when the question or change spans multiple files across the repo.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6410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workspace context can lead Copilot to touch files you did not name. Name the exact files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you can.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152705" y="6409944"/>
            <a:ext cx="26581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76956" y="6409944"/>
            <a:ext cx="4864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498580" y="6409944"/>
            <a:ext cx="5797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of 42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4222" y="6409944"/>
            <a:ext cx="8174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08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copilot-instructions.md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For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file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lives at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13432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adds it to every chat in that repo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766974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 not paste it into the prompt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220517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holds rules for the whole team, not today’s task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that belong there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1857146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tests with the change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2310689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use real customer data in examples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229807" y="2764231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assumptions before editing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6229807" y="3216859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out one-off questions, secrets, and live data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74213" y="6409944"/>
            <a:ext cx="48600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1488522" y="6409944"/>
            <a:ext cx="5897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of 42</a:t>
            </a:r>
            <a:endParaRPr lang="en-US" sz="11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282342"/>
            <a:ext cx="11162995" cy="4575658"/>
          </a:xfrm>
          <a:prstGeom prst="roundRect">
            <a:avLst>
              <a:gd name="adj" fmla="val 1659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4222" y="6409944"/>
            <a:ext cx="8174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086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the root of your repository so Copilot applies these rules automatically: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2435047"/>
            <a:ext cx="10858500" cy="4286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 Credit Analytics Team Copilot Instructions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## Coding Standards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Use Python 3.11, pandas, and pytest for all analytics scripts.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Add type hints and a short docstring to every new function.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## Data and Domain Rules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Never include real customer PII, names, or production account IDs.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Exclude rows where status == 'charged_off' from delinquency rate denominators.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Treat delinquency_days &gt; 365 as a data error flag, not a valid observation.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## Verification Rules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Write pytest unit tests for every new or modified function, including empty inputs and nulls.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 State assumptions and wait for approval before editing multiple files.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6402" y="6848856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74213" y="6409944"/>
            <a:ext cx="48600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488522" y="6409944"/>
            <a:ext cx="5897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of 42</a:t>
            </a:r>
            <a:endParaRPr lang="en-US" sz="11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156716"/>
            <a:ext cx="3594506" cy="3352190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6402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6" name="Shape 4"/>
          <p:cNvSpPr/>
          <p:nvPr/>
        </p:nvSpPr>
        <p:spPr>
          <a:xfrm>
            <a:off x="4261104" y="1156716"/>
            <a:ext cx="3594506" cy="3352190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261104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8" name="Shape 6"/>
          <p:cNvSpPr/>
          <p:nvPr/>
        </p:nvSpPr>
        <p:spPr>
          <a:xfrm>
            <a:off x="8045806" y="1156716"/>
            <a:ext cx="3594506" cy="3352190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45806" y="1156716"/>
            <a:ext cx="3594506" cy="57607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10" name="Shape 8"/>
          <p:cNvSpPr/>
          <p:nvPr/>
        </p:nvSpPr>
        <p:spPr>
          <a:xfrm>
            <a:off x="11367821" y="6409944"/>
            <a:ext cx="8238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7599" y="6500470"/>
            <a:ext cx="1127455" cy="2670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vs Prompt Files vs Agent Skills</a:t>
            </a:r>
            <a:endParaRPr lang="en-US" sz="33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1366114"/>
            <a:ext cx="3193999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71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2212848"/>
            <a:ext cx="3193999" cy="30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on every chat in the repo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2637130"/>
            <a:ext cx="3193999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Standing coding and credit domain rules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676656" y="3371393"/>
            <a:ext cx="3193999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concise so it never crowds context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4460443" y="1366114"/>
            <a:ext cx="3193999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71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 name.prompt.md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60443" y="2212848"/>
            <a:ext cx="3193999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Markdown file for one repeatable task</a:t>
            </a:r>
            <a:endParaRPr lang="en-US" sz="1580" dirty="0"/>
          </a:p>
        </p:txBody>
      </p:sp>
      <p:sp>
        <p:nvSpPr>
          <p:cNvPr id="19" name="Text 16"/>
          <p:cNvSpPr txBox="1"/>
          <p:nvPr/>
        </p:nvSpPr>
        <p:spPr>
          <a:xfrm>
            <a:off x="4460443" y="2947111"/>
            <a:ext cx="3193999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manually by typing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/name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Chat</a:t>
            </a:r>
            <a:endParaRPr lang="en-US" sz="1580" dirty="0"/>
          </a:p>
        </p:txBody>
      </p:sp>
      <p:sp>
        <p:nvSpPr>
          <p:cNvPr id="20" name="Text 17"/>
          <p:cNvSpPr txBox="1"/>
          <p:nvPr/>
        </p:nvSpPr>
        <p:spPr>
          <a:xfrm>
            <a:off x="4460443" y="3685032"/>
            <a:ext cx="3193999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standardized prompts like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/add-tests</a:t>
            </a:r>
            <a:endParaRPr lang="en-US" sz="1580" dirty="0"/>
          </a:p>
        </p:txBody>
      </p:sp>
      <p:sp>
        <p:nvSpPr>
          <p:cNvPr id="21" name="Text 18"/>
          <p:cNvSpPr txBox="1"/>
          <p:nvPr/>
        </p:nvSpPr>
        <p:spPr>
          <a:xfrm>
            <a:off x="8245145" y="1366114"/>
            <a:ext cx="3193999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71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.github/skills/name/ SKILL.md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45145" y="2212848"/>
            <a:ext cx="3193999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 bundling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SKILL.md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plus templates or scripts</a:t>
            </a:r>
            <a:endParaRPr lang="en-US" sz="1580" dirty="0"/>
          </a:p>
        </p:txBody>
      </p:sp>
      <p:sp>
        <p:nvSpPr>
          <p:cNvPr id="23" name="Text 20"/>
          <p:cNvSpPr txBox="1"/>
          <p:nvPr/>
        </p:nvSpPr>
        <p:spPr>
          <a:xfrm>
            <a:off x="8245145" y="2950769"/>
            <a:ext cx="3193999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reads YAML </a:t>
            </a:r>
            <a:pPr algn="l" indent="0" marL="0">
              <a:lnSpc>
                <a:spcPts val="244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description</a:t>
            </a:r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loads on demand</a:t>
            </a:r>
            <a:endParaRPr lang="en-US" sz="1580" dirty="0"/>
          </a:p>
        </p:txBody>
      </p:sp>
      <p:sp>
        <p:nvSpPr>
          <p:cNvPr id="24" name="Text 21"/>
          <p:cNvSpPr txBox="1"/>
          <p:nvPr/>
        </p:nvSpPr>
        <p:spPr>
          <a:xfrm>
            <a:off x="8245145" y="3688690"/>
            <a:ext cx="3193999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multi-step domain playbooks</a:t>
            </a:r>
            <a:endParaRPr lang="en-US" sz="1580" dirty="0"/>
          </a:p>
        </p:txBody>
      </p:sp>
      <p:sp>
        <p:nvSpPr>
          <p:cNvPr id="25" name="Text 22"/>
          <p:cNvSpPr txBox="1"/>
          <p:nvPr/>
        </p:nvSpPr>
        <p:spPr>
          <a:xfrm>
            <a:off x="152705" y="6409944"/>
            <a:ext cx="26535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3073298" y="6409944"/>
            <a:ext cx="485729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27" name="Text 24"/>
          <p:cNvSpPr txBox="1"/>
          <p:nvPr/>
        </p:nvSpPr>
        <p:spPr>
          <a:xfrm>
            <a:off x="11482121" y="6409944"/>
            <a:ext cx="5952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of 42</a:t>
            </a:r>
            <a:endParaRPr lang="en-US" sz="11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1910182"/>
            <a:ext cx="11162995" cy="2457907"/>
          </a:xfrm>
          <a:prstGeom prst="roundRect">
            <a:avLst>
              <a:gd name="adj" fmla="val 3088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03482" y="6409944"/>
            <a:ext cx="788213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774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.github/prompts/add-tests.prompt.md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30850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repeatable tasks under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run them in Chat by typing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/add-tests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2062886"/>
            <a:ext cx="10858500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 Prompt File: .github/prompts/add-tests.prompt.md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Write pytest unit tests for the selected function or attached #file: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Use synthetic credit account rows only (no real customer data).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Test normal inputs across Prime, Near-Prime, and Subprime risk_band values.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Test edge cases: empty DataFrame, missing utilization values, and delinquency_days = 9999.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Do not modify the production function unless I explicitly ask.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6402" y="4358945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81528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517782" y="6409944"/>
            <a:ext cx="5596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of 42</a:t>
            </a:r>
            <a:endParaRPr lang="en-US" sz="11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4222" y="6409944"/>
            <a:ext cx="8174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08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Agent Skill Bundles (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</a:t>
            </a:r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Disclosure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57146"/>
            <a:ext cx="5409590" cy="966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Lives in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.github/skills/&lt;skill-name&gt;/SKILL.md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YAML header (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name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description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at the top of the file</a:t>
            </a:r>
            <a:endParaRPr lang="en-US" sz="158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957170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scans only the lightweight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description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session start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733495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Loads the full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SKILL.md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instructions only when your prompt matches that domain workflow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Files in the Folder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1857146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templates (for example, a standard Model Card skeleton or MRM checklist)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630729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scripts or lookup tables that Agent mode can run or inspect</a:t>
            </a:r>
            <a:endParaRPr lang="en-US" sz="158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404311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heavy domain playbooks out of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3074213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11488522" y="6409944"/>
            <a:ext cx="5888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of 42</a:t>
            </a:r>
            <a:endParaRPr lang="en-US" sz="11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476402" y="2953512"/>
            <a:ext cx="11162995" cy="3676802"/>
          </a:xfrm>
          <a:prstGeom prst="roundRect">
            <a:avLst>
              <a:gd name="adj" fmla="val 2064"/>
            </a:avLst>
          </a:prstGeom>
          <a:solidFill>
            <a:srgbClr val="F2F8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2393" y="6409944"/>
            <a:ext cx="819302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295351"/>
            <a:ext cx="11162995" cy="134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</a:t>
            </a:r>
            <a:pPr algn="ctr" indent="0" marL="0">
              <a:lnSpc>
                <a:spcPts val="5280"/>
              </a:lnSpc>
              <a:buNone/>
            </a:pPr>
            <a:r>
              <a:rPr lang="en-US" sz="31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.github/skills/credit-data-audit/SKILL.md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7967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a multi-step domain playbook and its reference files inside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.github/skills/credit-data-audit/SKILL.md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9107" y="3106217"/>
            <a:ext cx="10858500" cy="3372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--- # YAML header at top of file (loaded at startup)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name: credit-data-audit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description: Audits credit datasets for sentinel codes, charged-off denominator leaks, and vintage grain errors. Use when profiling or validating credit tables.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--- # Full playbook below (loaded on demand)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 Credit Data Audit Skill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1. Verify primary grain is unique on `(account_id, perf_month)`.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2. Flag sentinel values (`9999`, `-1`, `999`) in `delinquency_days` and `utilization` before computing means.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3. Confirm `status == 'charged_off'` is excluded from active delinquency rate denominators.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4. Format the output report using `./audit-report-template.md` in this skill folder.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6402" y="6621170"/>
            <a:ext cx="11162995" cy="9144"/>
          </a:xfrm>
          <a:prstGeom prst="rect">
            <a:avLst/>
          </a:prstGeom>
          <a:solidFill>
            <a:srgbClr val="D5E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486693" y="6409944"/>
            <a:ext cx="5907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of 42</a:t>
            </a:r>
            <a:endParaRPr lang="en-US" sz="11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67821" y="6409944"/>
            <a:ext cx="823874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7599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1: Hands-On Lab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</a:t>
            </a:r>
            <a:pPr algn="l" indent="0" marL="0">
              <a:lnSpc>
                <a:spcPts val="2930"/>
              </a:lnSpc>
              <a:buNone/>
            </a:pPr>
            <a:r>
              <a:rPr lang="en-US" sz="1730" u="sng" dirty="0">
                <a:solidFill>
                  <a:srgbClr val="1E7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Prompting and Context Engineering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Time: 30 minutes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152705" y="6409944"/>
            <a:ext cx="26535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3073298" y="6409944"/>
            <a:ext cx="485729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11482121" y="6409944"/>
            <a:ext cx="5952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of 42</a:t>
            </a:r>
            <a:endParaRPr lang="en-US" sz="11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50" y="6409944"/>
            <a:ext cx="81564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Learned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Copilot from VS Code, the website, and the Copilot app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Wrote safe prompts and controlled prompt context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1983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inline, Chat, or Agent modes when generating code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5496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team defaults, slash commands, and domain playbooks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prompt files, and Agent Skills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152705" y="6409944"/>
            <a:ext cx="265541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075127" y="6409944"/>
            <a:ext cx="48609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3" name="Text 10"/>
          <p:cNvSpPr txBox="1"/>
          <p:nvPr/>
        </p:nvSpPr>
        <p:spPr>
          <a:xfrm>
            <a:off x="11490350" y="6409944"/>
            <a:ext cx="58795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of 42</a:t>
            </a:r>
            <a:endParaRPr lang="en-US" sz="11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1478" y="6409944"/>
            <a:ext cx="82021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need Copilot to change one function in VS Code. What context should you give it?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00123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@workspace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 it can see the whole repo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49174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The selected function, or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that file and its test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084271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Every file in the repo, pasted into the chat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6749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The website, with the repo described from memory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85778" y="6409944"/>
            <a:ext cx="59161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of 42</a:t>
            </a:r>
            <a:endParaRPr lang="en-US" sz="11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81537" y="6409944"/>
            <a:ext cx="81015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86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1: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need Copilot to change one function in VS Code. What context should you give it?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0012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 with the selection or the named files.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49174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function when the change stays in that block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997403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test file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#file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you want tests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503066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@workspace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when the change needs other files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4009644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@workspace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context can lead Copilot to touch files you did not name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152705" y="6409944"/>
            <a:ext cx="26572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6042" y="6409944"/>
            <a:ext cx="48636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95837" y="6409944"/>
            <a:ext cx="5815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of 42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1478" y="6409944"/>
            <a:ext cx="82021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2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 of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wants the same rules on every chat, without pasting them each time. Where do the rules go?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00123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In a prompt file that someone runs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49174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In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.github/copilot-instructions.md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084271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In the ghost text, so TAB inserts the rules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674974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In one chat. Later chats will remember it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485778" y="6409944"/>
            <a:ext cx="59161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of 42</a:t>
            </a:r>
            <a:endParaRPr lang="en-US" sz="11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1478" y="6409944"/>
            <a:ext cx="820217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257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2: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wants the same rules on every chat, without pasting them each time. Where do the rules go?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00123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Correct: B.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Copilot adds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every chat in that repo.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491740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 file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.github/prompts/*.prompt.md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is one job you trigger manually with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998318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Skill (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.github/skills/&lt;name&gt;/SKILL.md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is a domain playbook loaded on demand when your task matches its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description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87705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text is an inline suggestion, not a store for team rules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4382719"/>
            <a:ext cx="11162995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copilot-instructions.md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focused on standing rules that apply to every chat</a:t>
            </a:r>
            <a:endParaRPr lang="en-US" sz="1730" dirty="0"/>
          </a:p>
        </p:txBody>
      </p:sp>
      <p:sp>
        <p:nvSpPr>
          <p:cNvPr id="13" name="Text 10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4213" y="6409944"/>
            <a:ext cx="485912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85778" y="6409944"/>
            <a:ext cx="59161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of 42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63249" y="6409944"/>
            <a:ext cx="828446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942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 of 3: Discussion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943100"/>
            <a:ext cx="5410505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runs </a:t>
            </a:r>
            <a:pPr algn="l" indent="0" marL="0">
              <a:lnSpc>
                <a:spcPts val="2930"/>
              </a:lnSpc>
              <a:buNone/>
            </a:pPr>
            <a:r>
              <a:rPr lang="en-US" sz="164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 function that crashes. They keep the edit without reading it. Copilot also rewrote a function that already worked.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6229807" y="1251814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6229807" y="1857146"/>
            <a:ext cx="5409590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they have included with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229807" y="2313432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they check before keeping the edit?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6229807" y="2766974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command comes first if they do not yet understand the function?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152705" y="6409944"/>
            <a:ext cx="26526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3071470" y="6409944"/>
            <a:ext cx="4855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11477549" y="6409944"/>
            <a:ext cx="5998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of 42</a:t>
            </a:r>
            <a:endParaRPr lang="en-US" sz="11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04397" y="6409944"/>
            <a:ext cx="787298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8689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3: Discussion Points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75258"/>
            <a:ext cx="11162995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teammate runs </a:t>
            </a:r>
            <a:pPr algn="l" indent="0" marL="0">
              <a:lnSpc>
                <a:spcPts val="2930"/>
              </a:lnSpc>
              <a:buNone/>
            </a:pPr>
            <a:r>
              <a:rPr lang="en-US" sz="1640" b="1" dirty="0">
                <a:solidFill>
                  <a:srgbClr val="0824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pPr algn="l" indent="0" marL="0">
              <a:lnSpc>
                <a:spcPts val="2930"/>
              </a:lnSpc>
              <a:buNone/>
            </a:pPr>
            <a:r>
              <a:rPr lang="en-US" sz="173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 function that crashes. They keep the edit without reading it. Copilot also rewrote a function that already worked.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2435047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Answers Mention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3040380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error, and a limit to the lines that failed</a:t>
            </a:r>
            <a:endParaRPr lang="en-US" sz="158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3493922"/>
            <a:ext cx="5409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edit only if the crash is fixed and the other function is unchanged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4267505"/>
            <a:ext cx="540959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first, when they cannot say what the function does</a:t>
            </a:r>
            <a:endParaRPr lang="en-US" sz="1580" dirty="0"/>
          </a:p>
        </p:txBody>
      </p:sp>
      <p:sp>
        <p:nvSpPr>
          <p:cNvPr id="12" name="Text 9"/>
          <p:cNvSpPr txBox="1"/>
          <p:nvPr/>
        </p:nvSpPr>
        <p:spPr>
          <a:xfrm>
            <a:off x="476402" y="5043830"/>
            <a:ext cx="5409590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/tests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failing case, such as an empty list</a:t>
            </a:r>
            <a:endParaRPr lang="en-US" sz="1580" dirty="0"/>
          </a:p>
        </p:txBody>
      </p:sp>
      <p:sp>
        <p:nvSpPr>
          <p:cNvPr id="13" name="Text 10"/>
          <p:cNvSpPr txBox="1"/>
          <p:nvPr/>
        </p:nvSpPr>
        <p:spPr>
          <a:xfrm>
            <a:off x="6229807" y="2435047"/>
            <a:ext cx="5410505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6229807" y="3040380"/>
            <a:ext cx="5409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Keeping the edit because it looks finished</a:t>
            </a:r>
            <a:endParaRPr lang="en-US" sz="1580" dirty="0"/>
          </a:p>
        </p:txBody>
      </p:sp>
      <p:sp>
        <p:nvSpPr>
          <p:cNvPr id="15" name="Text 12"/>
          <p:cNvSpPr txBox="1"/>
          <p:nvPr/>
        </p:nvSpPr>
        <p:spPr>
          <a:xfrm>
            <a:off x="6229807" y="3493922"/>
            <a:ext cx="5409590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/fix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rewrite the whole file</a:t>
            </a:r>
            <a:endParaRPr lang="en-US" sz="1580" dirty="0"/>
          </a:p>
        </p:txBody>
      </p:sp>
      <p:sp>
        <p:nvSpPr>
          <p:cNvPr id="16" name="Text 13"/>
          <p:cNvSpPr txBox="1"/>
          <p:nvPr/>
        </p:nvSpPr>
        <p:spPr>
          <a:xfrm>
            <a:off x="6229807" y="3950208"/>
            <a:ext cx="5409590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520"/>
              </a:lnSpc>
              <a:buSzPct val="100000"/>
              <a:buChar char="•"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Skipping </a:t>
            </a:r>
            <a:pPr algn="l" indent="0" marL="0">
              <a:lnSpc>
                <a:spcPts val="2520"/>
              </a:lnSpc>
              <a:buNone/>
            </a:pPr>
            <a:r>
              <a:rPr lang="en-US" sz="1500" dirty="0">
                <a:solidFill>
                  <a:srgbClr val="1C1D1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/explain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the function is unclear</a:t>
            </a:r>
            <a:endParaRPr lang="en-US" sz="1580" dirty="0"/>
          </a:p>
        </p:txBody>
      </p:sp>
      <p:sp>
        <p:nvSpPr>
          <p:cNvPr id="17" name="Text 14"/>
          <p:cNvSpPr txBox="1"/>
          <p:nvPr/>
        </p:nvSpPr>
        <p:spPr>
          <a:xfrm>
            <a:off x="152705" y="6409944"/>
            <a:ext cx="26627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3082442" y="6409944"/>
            <a:ext cx="4873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1518697" y="6409944"/>
            <a:ext cx="5586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of 42</a:t>
            </a:r>
            <a:endParaRPr lang="en-US" sz="11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0564" y="6409944"/>
            <a:ext cx="821131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701" y="1194206"/>
            <a:ext cx="5015484" cy="50154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28" y="6500470"/>
            <a:ext cx="1127455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Answers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52705" y="6409944"/>
            <a:ext cx="2654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9" name="Text 5"/>
          <p:cNvSpPr txBox="1"/>
          <p:nvPr/>
        </p:nvSpPr>
        <p:spPr>
          <a:xfrm>
            <a:off x="3073298" y="6409944"/>
            <a:ext cx="48582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11484864" y="6409944"/>
            <a:ext cx="59344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of 42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Credit Analytics and Risk Modeling</dc:title>
  <dc:subject>GitHub Copilot for Credit Analytics and Risk Modeling</dc:subject>
  <dc:creator>ROI Training</dc:creator>
  <cp:lastModifiedBy>ROI Training</cp:lastModifiedBy>
  <cp:revision>1</cp:revision>
  <dcterms:created xsi:type="dcterms:W3CDTF">2026-10-21T17:08:57Z</dcterms:created>
  <dcterms:modified xsi:type="dcterms:W3CDTF">2026-10-21T17:08:57Z</dcterms:modified>
</cp:coreProperties>
</file>