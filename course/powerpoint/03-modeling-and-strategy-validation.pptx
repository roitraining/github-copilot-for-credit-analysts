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4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0" y="6409944"/>
            <a:ext cx="761695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049" y="437998"/>
            <a:ext cx="3146450" cy="57150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0556" y="6500470"/>
            <a:ext cx="1468526" cy="2670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66598" y="4726534"/>
            <a:ext cx="7193585" cy="470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2180" b="1" dirty="0">
                <a:solidFill>
                  <a:srgbClr val="B9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2180" dirty="0"/>
          </a:p>
        </p:txBody>
      </p:sp>
      <p:sp>
        <p:nvSpPr>
          <p:cNvPr id="8" name="Text 4"/>
          <p:cNvSpPr txBox="1"/>
          <p:nvPr/>
        </p:nvSpPr>
        <p:spPr>
          <a:xfrm>
            <a:off x="666598" y="5329123"/>
            <a:ext cx="9440266" cy="595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9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3: Modeling and Strategy Validation</a:t>
            </a:r>
            <a:endParaRPr lang="en-US" sz="3750" dirty="0"/>
          </a:p>
        </p:txBody>
      </p:sp>
      <p:sp>
        <p:nvSpPr>
          <p:cNvPr id="9" name="Text 5"/>
          <p:cNvSpPr txBox="1"/>
          <p:nvPr/>
        </p:nvSpPr>
        <p:spPr>
          <a:xfrm>
            <a:off x="152705" y="6409944"/>
            <a:ext cx="266913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0" name="Text 6"/>
          <p:cNvSpPr txBox="1"/>
          <p:nvPr/>
        </p:nvSpPr>
        <p:spPr>
          <a:xfrm>
            <a:off x="3088843" y="6409944"/>
            <a:ext cx="488563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1" name="Text 7"/>
          <p:cNvSpPr txBox="1"/>
          <p:nvPr/>
        </p:nvSpPr>
        <p:spPr>
          <a:xfrm>
            <a:off x="11544300" y="6409944"/>
            <a:ext cx="53309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of 30</a:t>
            </a:r>
            <a:endParaRPr lang="en-US" sz="11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0" y="6409944"/>
            <a:ext cx="761695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0634" y="6500470"/>
            <a:ext cx="1127455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3: Objectives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476402" y="1308506"/>
            <a:ext cx="11162995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 Copilot Chat to scaffold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scikit-learn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feature and model pipelines</a:t>
            </a:r>
            <a:endParaRPr lang="en-US" sz="1730" dirty="0"/>
          </a:p>
        </p:txBody>
      </p:sp>
      <p:sp>
        <p:nvSpPr>
          <p:cNvPr id="8" name="Text 5"/>
          <p:cNvSpPr txBox="1"/>
          <p:nvPr/>
        </p:nvSpPr>
        <p:spPr>
          <a:xfrm>
            <a:off x="476402" y="1815084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Inline Chat and ghost text to add custom transformers and estimators</a:t>
            </a:r>
            <a:endParaRPr lang="en-US" sz="1730" dirty="0"/>
          </a:p>
        </p:txBody>
      </p:sp>
      <p:sp>
        <p:nvSpPr>
          <p:cNvPr id="9" name="Text 6"/>
          <p:cNvSpPr txBox="1"/>
          <p:nvPr/>
        </p:nvSpPr>
        <p:spPr>
          <a:xfrm>
            <a:off x="476402" y="2320747"/>
            <a:ext cx="11162995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Copilot to generate validation scripts, then verify them with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/tests</a:t>
            </a:r>
            <a:endParaRPr lang="en-US" sz="1730" dirty="0"/>
          </a:p>
        </p:txBody>
      </p:sp>
      <p:sp>
        <p:nvSpPr>
          <p:cNvPr id="10" name="Text 7"/>
          <p:cNvSpPr txBox="1"/>
          <p:nvPr/>
        </p:nvSpPr>
        <p:spPr>
          <a:xfrm>
            <a:off x="476402" y="2826410"/>
            <a:ext cx="11162995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AI-generated modeling code for bugs using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/explain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/fix</a:t>
            </a:r>
            <a:endParaRPr lang="en-US" sz="1730" dirty="0"/>
          </a:p>
        </p:txBody>
      </p:sp>
      <p:sp>
        <p:nvSpPr>
          <p:cNvPr id="11" name="Text 8"/>
          <p:cNvSpPr txBox="1"/>
          <p:nvPr/>
        </p:nvSpPr>
        <p:spPr>
          <a:xfrm>
            <a:off x="476402" y="3332988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 Jupyter notebook cells into reusable Python modules</a:t>
            </a:r>
            <a:endParaRPr lang="en-US" sz="1730" dirty="0"/>
          </a:p>
        </p:txBody>
      </p:sp>
      <p:sp>
        <p:nvSpPr>
          <p:cNvPr id="12" name="Text 9"/>
          <p:cNvSpPr txBox="1"/>
          <p:nvPr/>
        </p:nvSpPr>
        <p:spPr>
          <a:xfrm>
            <a:off x="152705" y="6409944"/>
            <a:ext cx="266913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3" name="Text 10"/>
          <p:cNvSpPr txBox="1"/>
          <p:nvPr/>
        </p:nvSpPr>
        <p:spPr>
          <a:xfrm>
            <a:off x="3088843" y="6409944"/>
            <a:ext cx="488563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4" name="Text 11"/>
          <p:cNvSpPr txBox="1"/>
          <p:nvPr/>
        </p:nvSpPr>
        <p:spPr>
          <a:xfrm>
            <a:off x="11544300" y="6409944"/>
            <a:ext cx="53309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of 30</a:t>
            </a:r>
            <a:endParaRPr lang="en-US" sz="11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0" y="6409944"/>
            <a:ext cx="761695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0634" y="6500470"/>
            <a:ext cx="1127455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Concepts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3771900" y="2681021"/>
            <a:ext cx="4267505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188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Generating Model Pipelines</a:t>
            </a:r>
            <a:endParaRPr lang="en-US" sz="1880" dirty="0"/>
          </a:p>
        </p:txBody>
      </p:sp>
      <p:sp>
        <p:nvSpPr>
          <p:cNvPr id="8" name="Shape 5"/>
          <p:cNvSpPr/>
          <p:nvPr/>
        </p:nvSpPr>
        <p:spPr>
          <a:xfrm>
            <a:off x="3619195" y="3161995"/>
            <a:ext cx="4572000" cy="9144"/>
          </a:xfrm>
          <a:prstGeom prst="rect">
            <a:avLst/>
          </a:prstGeom>
          <a:solidFill>
            <a:srgbClr val="E3EAF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771900" y="3380537"/>
            <a:ext cx="4572000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1880" dirty="0">
                <a:solidFill>
                  <a:srgbClr val="8B9B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Prompting for Validation and Tests</a:t>
            </a:r>
            <a:endParaRPr lang="en-US" sz="1880" dirty="0"/>
          </a:p>
        </p:txBody>
      </p:sp>
      <p:sp>
        <p:nvSpPr>
          <p:cNvPr id="10" name="Shape 7"/>
          <p:cNvSpPr/>
          <p:nvPr/>
        </p:nvSpPr>
        <p:spPr>
          <a:xfrm>
            <a:off x="3771900" y="3862426"/>
            <a:ext cx="4572000" cy="9144"/>
          </a:xfrm>
          <a:prstGeom prst="rect">
            <a:avLst/>
          </a:prstGeom>
          <a:solidFill>
            <a:srgbClr val="E3EAF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771900" y="4080967"/>
            <a:ext cx="4572000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1880" dirty="0">
                <a:solidFill>
                  <a:srgbClr val="8B9B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Notebooks to Modules</a:t>
            </a:r>
            <a:endParaRPr lang="en-US" sz="1880" dirty="0"/>
          </a:p>
        </p:txBody>
      </p:sp>
      <p:sp>
        <p:nvSpPr>
          <p:cNvPr id="12" name="Shape 9"/>
          <p:cNvSpPr/>
          <p:nvPr/>
        </p:nvSpPr>
        <p:spPr>
          <a:xfrm>
            <a:off x="3771900" y="4562856"/>
            <a:ext cx="4572000" cy="9144"/>
          </a:xfrm>
          <a:prstGeom prst="rect">
            <a:avLst/>
          </a:prstGeom>
          <a:solidFill>
            <a:srgbClr val="E3EAF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52705" y="6409944"/>
            <a:ext cx="266913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4" name="Text 11"/>
          <p:cNvSpPr txBox="1"/>
          <p:nvPr/>
        </p:nvSpPr>
        <p:spPr>
          <a:xfrm>
            <a:off x="3088843" y="6409944"/>
            <a:ext cx="488563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5" name="Text 12"/>
          <p:cNvSpPr txBox="1"/>
          <p:nvPr/>
        </p:nvSpPr>
        <p:spPr>
          <a:xfrm>
            <a:off x="11544300" y="6409944"/>
            <a:ext cx="53309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of 30</a:t>
            </a:r>
            <a:endParaRPr lang="en-US" sz="11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0" y="6409944"/>
            <a:ext cx="761695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9830" y="1527962"/>
            <a:ext cx="3810305" cy="3810305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0634" y="6500470"/>
            <a:ext cx="1127455" cy="2670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Generic Model Prompts Fail in Copilot</a:t>
            </a:r>
            <a:endParaRPr lang="en-US" sz="3300" dirty="0"/>
          </a:p>
        </p:txBody>
      </p:sp>
      <p:sp>
        <p:nvSpPr>
          <p:cNvPr id="8" name="Text 4"/>
          <p:cNvSpPr txBox="1"/>
          <p:nvPr/>
        </p:nvSpPr>
        <p:spPr>
          <a:xfrm>
            <a:off x="476402" y="1308506"/>
            <a:ext cx="6011266" cy="1118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Asking Copilot “build a credit risk model” produces a flat script that calls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train_test_split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randomly and runs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fit_transform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 the whole table</a:t>
            </a:r>
            <a:endParaRPr lang="en-US" sz="1730" dirty="0"/>
          </a:p>
        </p:txBody>
      </p:sp>
      <p:sp>
        <p:nvSpPr>
          <p:cNvPr id="9" name="Text 5"/>
          <p:cNvSpPr txBox="1"/>
          <p:nvPr/>
        </p:nvSpPr>
        <p:spPr>
          <a:xfrm>
            <a:off x="476402" y="2560320"/>
            <a:ext cx="6011266" cy="1117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Copilot defaults to generic Kaggle-style tutorials unless you name the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scikit-learn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objects and split rules you want</a:t>
            </a:r>
            <a:endParaRPr lang="en-US" sz="1730" dirty="0"/>
          </a:p>
        </p:txBody>
      </p:sp>
      <p:sp>
        <p:nvSpPr>
          <p:cNvPr id="10" name="Text 6"/>
          <p:cNvSpPr txBox="1"/>
          <p:nvPr/>
        </p:nvSpPr>
        <p:spPr>
          <a:xfrm>
            <a:off x="476402" y="3811219"/>
            <a:ext cx="6011266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Attach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#file schema.md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specify the exact target column, allowed feature list, and date-based split rule</a:t>
            </a:r>
            <a:endParaRPr lang="en-US" sz="1730" dirty="0"/>
          </a:p>
        </p:txBody>
      </p:sp>
      <p:sp>
        <p:nvSpPr>
          <p:cNvPr id="11" name="Text 7"/>
          <p:cNvSpPr txBox="1"/>
          <p:nvPr/>
        </p:nvSpPr>
        <p:spPr>
          <a:xfrm>
            <a:off x="476402" y="4689043"/>
            <a:ext cx="6011266" cy="1118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 a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scikit-learn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Pipeline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ColumnTransformer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so preprocessing only fits on the training fold</a:t>
            </a:r>
            <a:endParaRPr lang="en-US" sz="1730" dirty="0"/>
          </a:p>
        </p:txBody>
      </p:sp>
      <p:sp>
        <p:nvSpPr>
          <p:cNvPr id="12" name="Text 8"/>
          <p:cNvSpPr txBox="1"/>
          <p:nvPr/>
        </p:nvSpPr>
        <p:spPr>
          <a:xfrm>
            <a:off x="152705" y="6409944"/>
            <a:ext cx="266913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3" name="Text 9"/>
          <p:cNvSpPr txBox="1"/>
          <p:nvPr/>
        </p:nvSpPr>
        <p:spPr>
          <a:xfrm>
            <a:off x="3088843" y="6409944"/>
            <a:ext cx="488563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4" name="Text 10"/>
          <p:cNvSpPr txBox="1"/>
          <p:nvPr/>
        </p:nvSpPr>
        <p:spPr>
          <a:xfrm>
            <a:off x="11544300" y="6409944"/>
            <a:ext cx="53309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of 30</a:t>
            </a:r>
            <a:endParaRPr lang="en-US" sz="11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0" y="6409944"/>
            <a:ext cx="761695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0634" y="6500470"/>
            <a:ext cx="1127455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Weak vs Strong Model Pipeline Prompts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476402" y="1251814"/>
            <a:ext cx="5410505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195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Weak Prompt</a:t>
            </a:r>
            <a:endParaRPr lang="en-US" sz="1950" dirty="0"/>
          </a:p>
        </p:txBody>
      </p:sp>
      <p:sp>
        <p:nvSpPr>
          <p:cNvPr id="8" name="Text 5"/>
          <p:cNvSpPr txBox="1"/>
          <p:nvPr/>
        </p:nvSpPr>
        <p:spPr>
          <a:xfrm>
            <a:off x="476402" y="1857146"/>
            <a:ext cx="54095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“Train a logistic regression model on my credit dataset to predict default.”</a:t>
            </a:r>
            <a:endParaRPr lang="en-US" sz="1580" dirty="0"/>
          </a:p>
        </p:txBody>
      </p:sp>
      <p:sp>
        <p:nvSpPr>
          <p:cNvPr id="9" name="Text 6"/>
          <p:cNvSpPr txBox="1"/>
          <p:nvPr/>
        </p:nvSpPr>
        <p:spPr>
          <a:xfrm>
            <a:off x="476402" y="2630729"/>
            <a:ext cx="54095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Copilot guesses column names and includes ID or post-decision columns as features</a:t>
            </a:r>
            <a:endParaRPr lang="en-US" sz="1580" dirty="0"/>
          </a:p>
        </p:txBody>
      </p:sp>
      <p:sp>
        <p:nvSpPr>
          <p:cNvPr id="10" name="Text 7"/>
          <p:cNvSpPr txBox="1"/>
          <p:nvPr/>
        </p:nvSpPr>
        <p:spPr>
          <a:xfrm>
            <a:off x="476402" y="3404311"/>
            <a:ext cx="54095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 a random split instead of an out-of-time split</a:t>
            </a:r>
            <a:endParaRPr lang="en-US" sz="1580" dirty="0"/>
          </a:p>
        </p:txBody>
      </p:sp>
      <p:sp>
        <p:nvSpPr>
          <p:cNvPr id="11" name="Text 8"/>
          <p:cNvSpPr txBox="1"/>
          <p:nvPr/>
        </p:nvSpPr>
        <p:spPr>
          <a:xfrm>
            <a:off x="6229807" y="1251814"/>
            <a:ext cx="5410505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195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Prompt</a:t>
            </a:r>
            <a:endParaRPr lang="en-US" sz="1950" dirty="0"/>
          </a:p>
        </p:txBody>
      </p:sp>
      <p:sp>
        <p:nvSpPr>
          <p:cNvPr id="12" name="Text 9"/>
          <p:cNvSpPr txBox="1"/>
          <p:nvPr/>
        </p:nvSpPr>
        <p:spPr>
          <a:xfrm>
            <a:off x="6229807" y="1857146"/>
            <a:ext cx="5409590" cy="646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“Using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#file schema.md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create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train_pipeline.py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scikit-learn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.”</a:t>
            </a:r>
            <a:endParaRPr lang="en-US" sz="1580" dirty="0"/>
          </a:p>
        </p:txBody>
      </p:sp>
      <p:sp>
        <p:nvSpPr>
          <p:cNvPr id="13" name="Text 10"/>
          <p:cNvSpPr txBox="1"/>
          <p:nvPr/>
        </p:nvSpPr>
        <p:spPr>
          <a:xfrm>
            <a:off x="6229807" y="2637130"/>
            <a:ext cx="540959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“Split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df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application_month &lt; '2025-10'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train and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&gt;= '2025-10'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test. Drop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account_id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delinquency_days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.”</a:t>
            </a:r>
            <a:endParaRPr lang="en-US" sz="1580" dirty="0"/>
          </a:p>
        </p:txBody>
      </p:sp>
      <p:sp>
        <p:nvSpPr>
          <p:cNvPr id="14" name="Text 11"/>
          <p:cNvSpPr txBox="1"/>
          <p:nvPr/>
        </p:nvSpPr>
        <p:spPr>
          <a:xfrm>
            <a:off x="6229807" y="3739896"/>
            <a:ext cx="5409590" cy="1615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“Build a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ColumnTransformer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(median impute +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StandardScaler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 numeric;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OneHotEncoder(handle_unknown='ignore')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risk_band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inside a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Pipeline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LogisticRegression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.”</a:t>
            </a:r>
            <a:endParaRPr lang="en-US" sz="1580" dirty="0"/>
          </a:p>
        </p:txBody>
      </p:sp>
      <p:sp>
        <p:nvSpPr>
          <p:cNvPr id="15" name="Text 12"/>
          <p:cNvSpPr txBox="1"/>
          <p:nvPr/>
        </p:nvSpPr>
        <p:spPr>
          <a:xfrm>
            <a:off x="152705" y="6409944"/>
            <a:ext cx="266913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6" name="Text 13"/>
          <p:cNvSpPr txBox="1"/>
          <p:nvPr/>
        </p:nvSpPr>
        <p:spPr>
          <a:xfrm>
            <a:off x="3088843" y="6409944"/>
            <a:ext cx="488563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7" name="Text 14"/>
          <p:cNvSpPr txBox="1"/>
          <p:nvPr/>
        </p:nvSpPr>
        <p:spPr>
          <a:xfrm>
            <a:off x="11544300" y="6409944"/>
            <a:ext cx="53309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of 30</a:t>
            </a:r>
            <a:endParaRPr lang="en-US" sz="11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0" y="6409944"/>
            <a:ext cx="761695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0634" y="6500470"/>
            <a:ext cx="1127455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Copilot Tools for Feature and Model Code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476402" y="1251814"/>
            <a:ext cx="3517697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195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Copilot Chat (</a:t>
            </a:r>
            <a:pPr algn="l" indent="0" marL="0">
              <a:lnSpc>
                <a:spcPts val="3120"/>
              </a:lnSpc>
              <a:buNone/>
            </a:pPr>
            <a:r>
              <a:rPr lang="en-US" sz="1850" b="1" dirty="0">
                <a:solidFill>
                  <a:srgbClr val="082445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#file</a:t>
            </a:r>
            <a:pPr algn="l" indent="0" marL="0">
              <a:lnSpc>
                <a:spcPts val="3120"/>
              </a:lnSpc>
              <a:buNone/>
            </a:pPr>
            <a:r>
              <a:rPr lang="en-US" sz="195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1950" dirty="0"/>
          </a:p>
        </p:txBody>
      </p:sp>
      <p:sp>
        <p:nvSpPr>
          <p:cNvPr id="8" name="Text 5"/>
          <p:cNvSpPr txBox="1"/>
          <p:nvPr/>
        </p:nvSpPr>
        <p:spPr>
          <a:xfrm>
            <a:off x="476402" y="1857146"/>
            <a:ext cx="3517697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for scaffolding a new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Pipeline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ColumnTransformer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from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#file schema.md</a:t>
            </a:r>
            <a:endParaRPr lang="en-US" sz="1580" dirty="0"/>
          </a:p>
        </p:txBody>
      </p:sp>
      <p:sp>
        <p:nvSpPr>
          <p:cNvPr id="9" name="Text 6"/>
          <p:cNvSpPr txBox="1"/>
          <p:nvPr/>
        </p:nvSpPr>
        <p:spPr>
          <a:xfrm>
            <a:off x="476402" y="3279953"/>
            <a:ext cx="351769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Generates the full training script and file structure in one pass</a:t>
            </a:r>
            <a:endParaRPr lang="en-US" sz="1580" dirty="0"/>
          </a:p>
        </p:txBody>
      </p:sp>
      <p:sp>
        <p:nvSpPr>
          <p:cNvPr id="10" name="Text 7"/>
          <p:cNvSpPr txBox="1"/>
          <p:nvPr/>
        </p:nvSpPr>
        <p:spPr>
          <a:xfrm>
            <a:off x="4298594" y="1251814"/>
            <a:ext cx="3517697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195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Inline Chat (CMD+I / CTRL+I)</a:t>
            </a:r>
            <a:endParaRPr lang="en-US" sz="1950" dirty="0"/>
          </a:p>
        </p:txBody>
      </p:sp>
      <p:sp>
        <p:nvSpPr>
          <p:cNvPr id="11" name="Text 8"/>
          <p:cNvSpPr txBox="1"/>
          <p:nvPr/>
        </p:nvSpPr>
        <p:spPr>
          <a:xfrm>
            <a:off x="4299509" y="1857146"/>
            <a:ext cx="3517697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Highlight the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Pipeline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block and press CMD+I (Mac) or CTRL+I (Windows)</a:t>
            </a:r>
            <a:endParaRPr lang="en-US" sz="1580" dirty="0"/>
          </a:p>
        </p:txBody>
      </p:sp>
      <p:sp>
        <p:nvSpPr>
          <p:cNvPr id="12" name="Text 9"/>
          <p:cNvSpPr txBox="1"/>
          <p:nvPr/>
        </p:nvSpPr>
        <p:spPr>
          <a:xfrm>
            <a:off x="4299509" y="2953512"/>
            <a:ext cx="3517697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to add a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FunctionTransformer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step or swap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LogisticRegression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HistGradientBoostingClassifier</a:t>
            </a:r>
            <a:endParaRPr lang="en-US" sz="1580" dirty="0"/>
          </a:p>
        </p:txBody>
      </p:sp>
      <p:sp>
        <p:nvSpPr>
          <p:cNvPr id="13" name="Text 10"/>
          <p:cNvSpPr txBox="1"/>
          <p:nvPr/>
        </p:nvSpPr>
        <p:spPr>
          <a:xfrm>
            <a:off x="8121701" y="1251814"/>
            <a:ext cx="3517697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195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Ghost Text (TAB)</a:t>
            </a:r>
            <a:endParaRPr lang="en-US" sz="1950" dirty="0"/>
          </a:p>
        </p:txBody>
      </p:sp>
      <p:sp>
        <p:nvSpPr>
          <p:cNvPr id="14" name="Text 11"/>
          <p:cNvSpPr txBox="1"/>
          <p:nvPr/>
        </p:nvSpPr>
        <p:spPr>
          <a:xfrm>
            <a:off x="8121701" y="1857146"/>
            <a:ext cx="351769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a comment above a dictionary of hyperparameters or a custom feature formula</a:t>
            </a:r>
            <a:endParaRPr lang="en-US" sz="1580" dirty="0"/>
          </a:p>
        </p:txBody>
      </p:sp>
      <p:sp>
        <p:nvSpPr>
          <p:cNvPr id="15" name="Text 12"/>
          <p:cNvSpPr txBox="1"/>
          <p:nvPr/>
        </p:nvSpPr>
        <p:spPr>
          <a:xfrm>
            <a:off x="8121701" y="2950769"/>
            <a:ext cx="3517697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Press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Tab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accept the boilerplate lines without leaving the editor</a:t>
            </a:r>
            <a:endParaRPr lang="en-US" sz="1580" dirty="0"/>
          </a:p>
        </p:txBody>
      </p:sp>
      <p:sp>
        <p:nvSpPr>
          <p:cNvPr id="16" name="Text 13"/>
          <p:cNvSpPr txBox="1"/>
          <p:nvPr/>
        </p:nvSpPr>
        <p:spPr>
          <a:xfrm>
            <a:off x="152705" y="6409944"/>
            <a:ext cx="266913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7" name="Text 14"/>
          <p:cNvSpPr txBox="1"/>
          <p:nvPr/>
        </p:nvSpPr>
        <p:spPr>
          <a:xfrm>
            <a:off x="3088843" y="6409944"/>
            <a:ext cx="488563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8" name="Text 15"/>
          <p:cNvSpPr txBox="1"/>
          <p:nvPr/>
        </p:nvSpPr>
        <p:spPr>
          <a:xfrm>
            <a:off x="11544300" y="6409944"/>
            <a:ext cx="53309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of 30</a:t>
            </a:r>
            <a:endParaRPr lang="en-US" sz="11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476402" y="2788006"/>
            <a:ext cx="11162995" cy="1238098"/>
          </a:xfrm>
          <a:prstGeom prst="roundRect">
            <a:avLst>
              <a:gd name="adj" fmla="val 6130"/>
            </a:avLst>
          </a:prstGeom>
          <a:solidFill>
            <a:srgbClr val="F2F8FF"/>
          </a:solidFill>
          <a:ln/>
        </p:spPr>
      </p:sp>
      <p:sp>
        <p:nvSpPr>
          <p:cNvPr id="5" name="Shape 3"/>
          <p:cNvSpPr/>
          <p:nvPr/>
        </p:nvSpPr>
        <p:spPr>
          <a:xfrm>
            <a:off x="476402" y="4217213"/>
            <a:ext cx="11162995" cy="1282903"/>
          </a:xfrm>
          <a:prstGeom prst="rect">
            <a:avLst/>
          </a:prstGeom>
          <a:solidFill>
            <a:srgbClr val="EFF3F7"/>
          </a:solidFill>
          <a:ln/>
        </p:spPr>
      </p:sp>
      <p:sp>
        <p:nvSpPr>
          <p:cNvPr id="6" name="Shape 4"/>
          <p:cNvSpPr/>
          <p:nvPr/>
        </p:nvSpPr>
        <p:spPr>
          <a:xfrm>
            <a:off x="476402" y="4217213"/>
            <a:ext cx="38405" cy="1282903"/>
          </a:xfrm>
          <a:prstGeom prst="rect">
            <a:avLst/>
          </a:prstGeom>
          <a:solidFill>
            <a:srgbClr val="1A7F37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0" y="6409944"/>
            <a:ext cx="761695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0634" y="6500470"/>
            <a:ext cx="1127455" cy="2670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Adding a Custom Feature Step with Inline Chat</a:t>
            </a:r>
            <a:endParaRPr lang="en-US" sz="3300" dirty="0"/>
          </a:p>
        </p:txBody>
      </p:sp>
      <p:sp>
        <p:nvSpPr>
          <p:cNvPr id="10" name="Text 7"/>
          <p:cNvSpPr txBox="1"/>
          <p:nvPr/>
        </p:nvSpPr>
        <p:spPr>
          <a:xfrm>
            <a:off x="476402" y="1308506"/>
            <a:ext cx="11162995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Once your baseline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Pipeline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runs, use Inline Chat to insert custom feature transformers without rewriting the script</a:t>
            </a:r>
            <a:endParaRPr lang="en-US" sz="1730" dirty="0"/>
          </a:p>
        </p:txBody>
      </p:sp>
      <p:sp>
        <p:nvSpPr>
          <p:cNvPr id="11" name="Text 8"/>
          <p:cNvSpPr txBox="1"/>
          <p:nvPr/>
        </p:nvSpPr>
        <p:spPr>
          <a:xfrm>
            <a:off x="476402" y="2187245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the code block in the editor and describe the exact transformation to add</a:t>
            </a:r>
            <a:endParaRPr lang="en-US" sz="1730" dirty="0"/>
          </a:p>
        </p:txBody>
      </p:sp>
      <p:sp>
        <p:nvSpPr>
          <p:cNvPr id="12" name="Text 9"/>
          <p:cNvSpPr txBox="1"/>
          <p:nvPr/>
        </p:nvSpPr>
        <p:spPr>
          <a:xfrm>
            <a:off x="629107" y="2940710"/>
            <a:ext cx="10858500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Add a FunctionTransformer step before scaling that caps utilization at 1.0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and creates a binary column util_missing_flag before median imputation.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Keep the existing OneHotEncoder step unchanged.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76402" y="4016959"/>
            <a:ext cx="11162995" cy="9144"/>
          </a:xfrm>
          <a:prstGeom prst="rect">
            <a:avLst/>
          </a:prstGeom>
          <a:solidFill>
            <a:srgbClr val="D5E4F5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85800" y="4331513"/>
            <a:ext cx="10782605" cy="244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1A7F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Tip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4794199"/>
            <a:ext cx="107826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Tell Copilot which pipeline steps must stay unchanged so your diff stays limited to the new logic.</a:t>
            </a:r>
            <a:endParaRPr lang="en-US" sz="1730" dirty="0"/>
          </a:p>
        </p:txBody>
      </p:sp>
      <p:sp>
        <p:nvSpPr>
          <p:cNvPr id="16" name="Text 13"/>
          <p:cNvSpPr txBox="1"/>
          <p:nvPr/>
        </p:nvSpPr>
        <p:spPr>
          <a:xfrm>
            <a:off x="152705" y="6409944"/>
            <a:ext cx="266913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7" name="Text 14"/>
          <p:cNvSpPr txBox="1"/>
          <p:nvPr/>
        </p:nvSpPr>
        <p:spPr>
          <a:xfrm>
            <a:off x="3088843" y="6409944"/>
            <a:ext cx="488563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8" name="Text 15"/>
          <p:cNvSpPr txBox="1"/>
          <p:nvPr/>
        </p:nvSpPr>
        <p:spPr>
          <a:xfrm>
            <a:off x="11544300" y="6409944"/>
            <a:ext cx="53309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of 30</a:t>
            </a:r>
            <a:endParaRPr lang="en-US" sz="11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476402" y="1910182"/>
            <a:ext cx="11162995" cy="2762402"/>
          </a:xfrm>
          <a:prstGeom prst="roundRect">
            <a:avLst>
              <a:gd name="adj" fmla="val 2747"/>
            </a:avLst>
          </a:prstGeom>
          <a:solidFill>
            <a:srgbClr val="F2F8FF"/>
          </a:solidFill>
          <a:ln/>
        </p:spPr>
      </p:sp>
      <p:sp>
        <p:nvSpPr>
          <p:cNvPr id="5" name="Shape 3"/>
          <p:cNvSpPr/>
          <p:nvPr/>
        </p:nvSpPr>
        <p:spPr>
          <a:xfrm>
            <a:off x="476402" y="5464454"/>
            <a:ext cx="11162995" cy="1393546"/>
          </a:xfrm>
          <a:prstGeom prst="roundRect">
            <a:avLst>
              <a:gd name="adj" fmla="val 5446"/>
            </a:avLst>
          </a:prstGeom>
          <a:solidFill>
            <a:srgbClr val="F2F8FF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0" y="6409944"/>
            <a:ext cx="761695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0634" y="6500470"/>
            <a:ext cx="1127455" cy="2670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Demo: Building a Baseline Pipeline via Copilot Chat</a:t>
            </a:r>
            <a:endParaRPr lang="en-US" sz="3300" dirty="0"/>
          </a:p>
        </p:txBody>
      </p:sp>
      <p:sp>
        <p:nvSpPr>
          <p:cNvPr id="9" name="Text 6"/>
          <p:cNvSpPr txBox="1"/>
          <p:nvPr/>
        </p:nvSpPr>
        <p:spPr>
          <a:xfrm>
            <a:off x="476402" y="1308506"/>
            <a:ext cx="11162995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Font typeface="+mj-lt"/>
              <a:buAutoNum type="arabicPeriod" startAt="1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VS Code, create or update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schema.md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so it includes a binary target column and an application month:</a:t>
            </a:r>
            <a:endParaRPr lang="en-US" sz="1730" dirty="0"/>
          </a:p>
        </p:txBody>
      </p:sp>
      <p:sp>
        <p:nvSpPr>
          <p:cNvPr id="10" name="Text 7"/>
          <p:cNvSpPr txBox="1"/>
          <p:nvPr/>
        </p:nvSpPr>
        <p:spPr>
          <a:xfrm>
            <a:off x="629107" y="2062886"/>
            <a:ext cx="10858500" cy="2457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# Credit Modeling Schema (modeling_accounts.csv)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- `account_id` (string): unique identifier (exclude from features)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- `application_month` (string): YYYY-MM format from 2025-01 to 2025-12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- `risk_band` (string): Prime, Near-Prime, or Subprime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- `balance` (float): balance at application in USD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- `credit_limit` (float): credit limit at application in USD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- `utilization` (float): ratio 0.0 to 1.0 (may contain nulls)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- `default_60d` (int): 1 if 60+ days past due within 12 months, else 0 (target)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76402" y="4663440"/>
            <a:ext cx="11162995" cy="9144"/>
          </a:xfrm>
          <a:prstGeom prst="rect">
            <a:avLst/>
          </a:prstGeom>
          <a:solidFill>
            <a:srgbClr val="D5E4F5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76402" y="4862779"/>
            <a:ext cx="11162995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Font typeface="+mj-lt"/>
              <a:buAutoNum type="arabicPeriod" startAt="1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Copilot Chat (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&lt;/&gt; Agent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</a:t>
            </a:r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mode), attach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#file schema.md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run this prompt:</a:t>
            </a:r>
            <a:endParaRPr lang="en-US" sz="1730" dirty="0"/>
          </a:p>
        </p:txBody>
      </p:sp>
      <p:sp>
        <p:nvSpPr>
          <p:cNvPr id="13" name="Text 10"/>
          <p:cNvSpPr txBox="1"/>
          <p:nvPr/>
        </p:nvSpPr>
        <p:spPr>
          <a:xfrm>
            <a:off x="629107" y="5616245"/>
            <a:ext cx="10858500" cy="1241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Using #file schema.md, create train_baseline.py.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1. Include a helper make_synthetic_modeling_data() that generates modeling_accounts.csv with 300 rows across 2025-01 to 2025-12, including 15 null utilization values.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2. Split rows where application_month &lt; '2025-10' into train and &gt;= '2025-10' into test.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3. Exclude account_id, application_month, and default_60d from the feature list.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4. Build a scikit-learn Pipeline with ColumnTransformer (SimpleImputer(strategy='median') and StandardScaler for numeric columns; OneHotEncoder(handle_unknown='ignore') for risk_band) and LogisticRegression().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5. Fit on train, predict probabilities on test, and print train/test row counts and test ROC AUC.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76402" y="6848856"/>
            <a:ext cx="11162995" cy="9144"/>
          </a:xfrm>
          <a:prstGeom prst="rect">
            <a:avLst/>
          </a:prstGeom>
          <a:solidFill>
            <a:srgbClr val="D5E4F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52705" y="6409944"/>
            <a:ext cx="266913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6" name="Text 13"/>
          <p:cNvSpPr txBox="1"/>
          <p:nvPr/>
        </p:nvSpPr>
        <p:spPr>
          <a:xfrm>
            <a:off x="3088843" y="6409944"/>
            <a:ext cx="488563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7" name="Text 14"/>
          <p:cNvSpPr txBox="1"/>
          <p:nvPr/>
        </p:nvSpPr>
        <p:spPr>
          <a:xfrm>
            <a:off x="11544300" y="6409944"/>
            <a:ext cx="53309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of 30</a:t>
            </a:r>
            <a:endParaRPr lang="en-US" sz="11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0" y="6409944"/>
            <a:ext cx="761695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0634" y="6500470"/>
            <a:ext cx="1127455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Concepts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3771900" y="2681021"/>
            <a:ext cx="4572000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1880" dirty="0">
                <a:solidFill>
                  <a:srgbClr val="8B9B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Generating Model Pipelines</a:t>
            </a:r>
            <a:endParaRPr lang="en-US" sz="1880" dirty="0"/>
          </a:p>
        </p:txBody>
      </p:sp>
      <p:sp>
        <p:nvSpPr>
          <p:cNvPr id="8" name="Shape 5"/>
          <p:cNvSpPr/>
          <p:nvPr/>
        </p:nvSpPr>
        <p:spPr>
          <a:xfrm>
            <a:off x="3771900" y="3161995"/>
            <a:ext cx="4572000" cy="9144"/>
          </a:xfrm>
          <a:prstGeom prst="rect">
            <a:avLst/>
          </a:prstGeom>
          <a:solidFill>
            <a:srgbClr val="E3EAF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771900" y="3380537"/>
            <a:ext cx="4267505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188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Prompting for Validation and Tests</a:t>
            </a:r>
            <a:endParaRPr lang="en-US" sz="1880" dirty="0"/>
          </a:p>
        </p:txBody>
      </p:sp>
      <p:sp>
        <p:nvSpPr>
          <p:cNvPr id="10" name="Shape 7"/>
          <p:cNvSpPr/>
          <p:nvPr/>
        </p:nvSpPr>
        <p:spPr>
          <a:xfrm>
            <a:off x="3619195" y="3862426"/>
            <a:ext cx="4572000" cy="9144"/>
          </a:xfrm>
          <a:prstGeom prst="rect">
            <a:avLst/>
          </a:prstGeom>
          <a:solidFill>
            <a:srgbClr val="E3EAF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771900" y="4080967"/>
            <a:ext cx="4572000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1880" dirty="0">
                <a:solidFill>
                  <a:srgbClr val="8B9B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Notebooks to Modules</a:t>
            </a:r>
            <a:endParaRPr lang="en-US" sz="1880" dirty="0"/>
          </a:p>
        </p:txBody>
      </p:sp>
      <p:sp>
        <p:nvSpPr>
          <p:cNvPr id="12" name="Shape 9"/>
          <p:cNvSpPr/>
          <p:nvPr/>
        </p:nvSpPr>
        <p:spPr>
          <a:xfrm>
            <a:off x="3771900" y="4562856"/>
            <a:ext cx="4572000" cy="9144"/>
          </a:xfrm>
          <a:prstGeom prst="rect">
            <a:avLst/>
          </a:prstGeom>
          <a:solidFill>
            <a:srgbClr val="E3EAF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52705" y="6409944"/>
            <a:ext cx="266913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4" name="Text 11"/>
          <p:cNvSpPr txBox="1"/>
          <p:nvPr/>
        </p:nvSpPr>
        <p:spPr>
          <a:xfrm>
            <a:off x="3088843" y="6409944"/>
            <a:ext cx="488563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5" name="Text 12"/>
          <p:cNvSpPr txBox="1"/>
          <p:nvPr/>
        </p:nvSpPr>
        <p:spPr>
          <a:xfrm>
            <a:off x="11544300" y="6409944"/>
            <a:ext cx="53309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of 30</a:t>
            </a:r>
            <a:endParaRPr lang="en-US" sz="11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397082" y="6409944"/>
            <a:ext cx="794614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1620" y="1118311"/>
            <a:ext cx="9052560" cy="509229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2288" y="6500470"/>
            <a:ext cx="1127455" cy="2670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Three-Step Copilot Workflow for Validation</a:t>
            </a:r>
            <a:endParaRPr lang="en-US" sz="3300" dirty="0"/>
          </a:p>
        </p:txBody>
      </p:sp>
      <p:sp>
        <p:nvSpPr>
          <p:cNvPr id="8" name="Text 4"/>
          <p:cNvSpPr txBox="1"/>
          <p:nvPr/>
        </p:nvSpPr>
        <p:spPr>
          <a:xfrm>
            <a:off x="152705" y="6409944"/>
            <a:ext cx="26609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9" name="Text 5"/>
          <p:cNvSpPr txBox="1"/>
          <p:nvPr/>
        </p:nvSpPr>
        <p:spPr>
          <a:xfrm>
            <a:off x="3080614" y="6409944"/>
            <a:ext cx="487100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0" name="Text 6"/>
          <p:cNvSpPr txBox="1"/>
          <p:nvPr/>
        </p:nvSpPr>
        <p:spPr>
          <a:xfrm>
            <a:off x="11511382" y="6409944"/>
            <a:ext cx="56601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of 30</a:t>
            </a:r>
            <a:endParaRPr lang="en-US" sz="11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476402" y="4039819"/>
            <a:ext cx="11162995" cy="1238098"/>
          </a:xfrm>
          <a:prstGeom prst="roundRect">
            <a:avLst>
              <a:gd name="adj" fmla="val 6130"/>
            </a:avLst>
          </a:prstGeom>
          <a:solidFill>
            <a:srgbClr val="F2F8FF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6409944"/>
            <a:ext cx="761695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0634" y="6500470"/>
            <a:ext cx="1127455" cy="2670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Prompting Copilot for Credit Validation Metrics</a:t>
            </a:r>
            <a:endParaRPr lang="en-US" sz="3300" dirty="0"/>
          </a:p>
        </p:txBody>
      </p:sp>
      <p:sp>
        <p:nvSpPr>
          <p:cNvPr id="8" name="Text 5"/>
          <p:cNvSpPr txBox="1"/>
          <p:nvPr/>
        </p:nvSpPr>
        <p:spPr>
          <a:xfrm>
            <a:off x="476402" y="1308506"/>
            <a:ext cx="11162995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you ask Copilot to “evaluate the model,” it defaults to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accuracy_score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a confusion matrix at a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0.50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threshold</a:t>
            </a:r>
            <a:endParaRPr lang="en-US" sz="1730" dirty="0"/>
          </a:p>
        </p:txBody>
      </p:sp>
      <p:sp>
        <p:nvSpPr>
          <p:cNvPr id="9" name="Text 6"/>
          <p:cNvSpPr txBox="1"/>
          <p:nvPr/>
        </p:nvSpPr>
        <p:spPr>
          <a:xfrm>
            <a:off x="476402" y="2187245"/>
            <a:ext cx="11162995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Credit risk validation uses rank-ordering and probability calibration (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ROC AUC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KS statistic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Brier score, and decile capture tables)</a:t>
            </a:r>
            <a:endParaRPr lang="en-US" sz="1730" dirty="0"/>
          </a:p>
        </p:txBody>
      </p:sp>
      <p:sp>
        <p:nvSpPr>
          <p:cNvPr id="10" name="Text 7"/>
          <p:cNvSpPr txBox="1"/>
          <p:nvPr/>
        </p:nvSpPr>
        <p:spPr>
          <a:xfrm>
            <a:off x="476402" y="3065983"/>
            <a:ext cx="11162995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Spell out the exact formula for custom metrics like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KS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so Copilot does not guess or import a library you do not have installed</a:t>
            </a:r>
            <a:endParaRPr lang="en-US" sz="1730" dirty="0"/>
          </a:p>
        </p:txBody>
      </p:sp>
      <p:sp>
        <p:nvSpPr>
          <p:cNvPr id="11" name="Text 8"/>
          <p:cNvSpPr txBox="1"/>
          <p:nvPr/>
        </p:nvSpPr>
        <p:spPr>
          <a:xfrm>
            <a:off x="629107" y="4192524"/>
            <a:ext cx="10858500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Using #file train_baseline.py, create evaluate_model.py with two functions: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1. compute_ks(y_true, y_prob): sort by y_prob descending and return the maximum absolute difference between cumulative bad rate and cumulative good rate.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2. build_decile_table(y_true, y_prob): bin predictions into 10 equal-sized deciles (1 = highest predicted risk) and return a DataFrame with account_count, bad_count, actual_bad_rate, mean_predicted_prob, and cumulative_bad_capture.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76402" y="5268773"/>
            <a:ext cx="11162995" cy="9144"/>
          </a:xfrm>
          <a:prstGeom prst="rect">
            <a:avLst/>
          </a:prstGeom>
          <a:solidFill>
            <a:srgbClr val="D5E4F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52705" y="6409944"/>
            <a:ext cx="266913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4" name="Text 11"/>
          <p:cNvSpPr txBox="1"/>
          <p:nvPr/>
        </p:nvSpPr>
        <p:spPr>
          <a:xfrm>
            <a:off x="3088843" y="6409944"/>
            <a:ext cx="488563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5" name="Text 12"/>
          <p:cNvSpPr txBox="1"/>
          <p:nvPr/>
        </p:nvSpPr>
        <p:spPr>
          <a:xfrm>
            <a:off x="11544300" y="6409944"/>
            <a:ext cx="53309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of 30</a:t>
            </a:r>
            <a:endParaRPr lang="en-US" sz="11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476402" y="1156716"/>
            <a:ext cx="3594506" cy="3502152"/>
          </a:xfrm>
          <a:prstGeom prst="roundRect">
            <a:avLst>
              <a:gd name="adj" fmla="val 3812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76402" y="1156716"/>
            <a:ext cx="3594506" cy="57607"/>
          </a:xfrm>
          <a:prstGeom prst="rect">
            <a:avLst/>
          </a:prstGeom>
          <a:solidFill>
            <a:srgbClr val="1E71D6"/>
          </a:solidFill>
          <a:ln/>
        </p:spPr>
      </p:sp>
      <p:sp>
        <p:nvSpPr>
          <p:cNvPr id="6" name="Shape 4"/>
          <p:cNvSpPr/>
          <p:nvPr/>
        </p:nvSpPr>
        <p:spPr>
          <a:xfrm>
            <a:off x="4261104" y="1156716"/>
            <a:ext cx="3594506" cy="3502152"/>
          </a:xfrm>
          <a:prstGeom prst="roundRect">
            <a:avLst>
              <a:gd name="adj" fmla="val 3812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4261104" y="1156716"/>
            <a:ext cx="3594506" cy="57607"/>
          </a:xfrm>
          <a:prstGeom prst="rect">
            <a:avLst/>
          </a:prstGeom>
          <a:solidFill>
            <a:srgbClr val="1E71D6"/>
          </a:solidFill>
          <a:ln/>
        </p:spPr>
      </p:sp>
      <p:sp>
        <p:nvSpPr>
          <p:cNvPr id="8" name="Shape 6"/>
          <p:cNvSpPr/>
          <p:nvPr/>
        </p:nvSpPr>
        <p:spPr>
          <a:xfrm>
            <a:off x="8045806" y="1156716"/>
            <a:ext cx="3594506" cy="3502152"/>
          </a:xfrm>
          <a:prstGeom prst="roundRect">
            <a:avLst>
              <a:gd name="adj" fmla="val 3812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8045806" y="1156716"/>
            <a:ext cx="3594506" cy="57607"/>
          </a:xfrm>
          <a:prstGeom prst="rect">
            <a:avLst/>
          </a:prstGeom>
          <a:solidFill>
            <a:srgbClr val="1E71D6"/>
          </a:solidFill>
          <a:ln/>
        </p:spPr>
      </p:sp>
      <p:sp>
        <p:nvSpPr>
          <p:cNvPr id="10" name="Shape 8"/>
          <p:cNvSpPr/>
          <p:nvPr/>
        </p:nvSpPr>
        <p:spPr>
          <a:xfrm>
            <a:off x="11403482" y="6409944"/>
            <a:ext cx="788213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7774" y="6500470"/>
            <a:ext cx="1127455" cy="26700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Using </a:t>
            </a:r>
            <a:pPr algn="ctr" indent="0" marL="0">
              <a:lnSpc>
                <a:spcPts val="5280"/>
              </a:lnSpc>
              <a:buNone/>
            </a:pPr>
            <a:r>
              <a:rPr lang="en-US" sz="3140" b="1" dirty="0">
                <a:solidFill>
                  <a:srgbClr val="082445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/tests</a:t>
            </a:r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Verify Validation Math</a:t>
            </a:r>
            <a:endParaRPr lang="en-US" sz="3300" dirty="0"/>
          </a:p>
        </p:txBody>
      </p:sp>
      <p:sp>
        <p:nvSpPr>
          <p:cNvPr id="13" name="Text 10"/>
          <p:cNvSpPr txBox="1"/>
          <p:nvPr/>
        </p:nvSpPr>
        <p:spPr>
          <a:xfrm>
            <a:off x="676656" y="1366114"/>
            <a:ext cx="3193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Perfect Separation Check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76656" y="1846174"/>
            <a:ext cx="3193999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</a:t>
            </a:r>
            <a:pPr algn="l" indent="0" marL="0">
              <a:lnSpc>
                <a:spcPts val="244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compute_ks</a:t>
            </a:r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run </a:t>
            </a:r>
            <a:pPr algn="l" indent="0" marL="0">
              <a:lnSpc>
                <a:spcPts val="244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/tests</a:t>
            </a:r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Chat.</a:t>
            </a:r>
            <a:endParaRPr lang="en-US" sz="1580" dirty="0"/>
          </a:p>
        </p:txBody>
      </p:sp>
      <p:sp>
        <p:nvSpPr>
          <p:cNvPr id="15" name="Text 12"/>
          <p:cNvSpPr txBox="1"/>
          <p:nvPr/>
        </p:nvSpPr>
        <p:spPr>
          <a:xfrm>
            <a:off x="676656" y="2587752"/>
            <a:ext cx="3193999" cy="1564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for a synthetic test where all bad accounts have </a:t>
            </a:r>
            <a:pPr algn="l" indent="0" marL="0">
              <a:lnSpc>
                <a:spcPts val="244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y_prob = 0.9</a:t>
            </a:r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all good accounts have </a:t>
            </a:r>
            <a:pPr algn="l" indent="0" marL="0">
              <a:lnSpc>
                <a:spcPts val="244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y_prob = 0.1</a:t>
            </a:r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asserting </a:t>
            </a:r>
            <a:pPr algn="l" indent="0" marL="0">
              <a:lnSpc>
                <a:spcPts val="244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KS == 1.0</a:t>
            </a:r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580" dirty="0"/>
          </a:p>
        </p:txBody>
      </p:sp>
      <p:sp>
        <p:nvSpPr>
          <p:cNvPr id="16" name="Text 13"/>
          <p:cNvSpPr txBox="1"/>
          <p:nvPr/>
        </p:nvSpPr>
        <p:spPr>
          <a:xfrm>
            <a:off x="4460443" y="1366114"/>
            <a:ext cx="3193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Decile Row and Order Check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4460443" y="1846174"/>
            <a:ext cx="3193999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</a:t>
            </a:r>
            <a:pPr algn="l" indent="0" marL="0">
              <a:lnSpc>
                <a:spcPts val="244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build_decile_table</a:t>
            </a:r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run </a:t>
            </a:r>
            <a:pPr algn="l" indent="0" marL="0">
              <a:lnSpc>
                <a:spcPts val="244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/tests</a:t>
            </a:r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580" dirty="0"/>
          </a:p>
        </p:txBody>
      </p:sp>
      <p:sp>
        <p:nvSpPr>
          <p:cNvPr id="18" name="Text 15"/>
          <p:cNvSpPr txBox="1"/>
          <p:nvPr/>
        </p:nvSpPr>
        <p:spPr>
          <a:xfrm>
            <a:off x="4460443" y="2587752"/>
            <a:ext cx="3193999" cy="1560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Assert that the output has exactly 10 rows, decile 1 has the highest </a:t>
            </a:r>
            <a:pPr algn="l" indent="0" marL="0">
              <a:lnSpc>
                <a:spcPts val="244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mean_predicted_prob</a:t>
            </a:r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</a:t>
            </a:r>
            <a:pPr algn="l" indent="0" marL="0">
              <a:lnSpc>
                <a:spcPts val="244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account_count.sum() == len(y_true)</a:t>
            </a:r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580" dirty="0"/>
          </a:p>
        </p:txBody>
      </p:sp>
      <p:sp>
        <p:nvSpPr>
          <p:cNvPr id="19" name="Text 16"/>
          <p:cNvSpPr txBox="1"/>
          <p:nvPr/>
        </p:nvSpPr>
        <p:spPr>
          <a:xfrm>
            <a:off x="8245145" y="1366114"/>
            <a:ext cx="3193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Edge-Case Input Check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8245145" y="1846174"/>
            <a:ext cx="3193999" cy="1560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Copilot to add </a:t>
            </a:r>
            <a:pPr algn="l" indent="0" marL="0">
              <a:lnSpc>
                <a:spcPts val="244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pytest</a:t>
            </a:r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cases for an empty array, </a:t>
            </a:r>
            <a:pPr algn="l" indent="0" marL="0">
              <a:lnSpc>
                <a:spcPts val="244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NaN</a:t>
            </a:r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probabilities, and a holdout set with zero defaults (</a:t>
            </a:r>
            <a:pPr algn="l" indent="0" marL="0">
              <a:lnSpc>
                <a:spcPts val="244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y_true</a:t>
            </a:r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zeros).</a:t>
            </a:r>
            <a:endParaRPr lang="en-US" sz="1580" dirty="0"/>
          </a:p>
        </p:txBody>
      </p:sp>
      <p:sp>
        <p:nvSpPr>
          <p:cNvPr id="21" name="Text 18"/>
          <p:cNvSpPr txBox="1"/>
          <p:nvPr/>
        </p:nvSpPr>
        <p:spPr>
          <a:xfrm>
            <a:off x="8245145" y="3521354"/>
            <a:ext cx="3193999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that the function raises a clear </a:t>
            </a:r>
            <a:pPr algn="l" indent="0" marL="0">
              <a:lnSpc>
                <a:spcPts val="244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ValueError</a:t>
            </a:r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instead of returning silent </a:t>
            </a:r>
            <a:pPr algn="l" indent="0" marL="0">
              <a:lnSpc>
                <a:spcPts val="244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NaN</a:t>
            </a:r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values.</a:t>
            </a:r>
            <a:endParaRPr lang="en-US" sz="1580" dirty="0"/>
          </a:p>
        </p:txBody>
      </p:sp>
      <p:sp>
        <p:nvSpPr>
          <p:cNvPr id="22" name="Text 19"/>
          <p:cNvSpPr txBox="1"/>
          <p:nvPr/>
        </p:nvSpPr>
        <p:spPr>
          <a:xfrm>
            <a:off x="152705" y="6409944"/>
            <a:ext cx="266273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23" name="Text 20"/>
          <p:cNvSpPr txBox="1"/>
          <p:nvPr/>
        </p:nvSpPr>
        <p:spPr>
          <a:xfrm>
            <a:off x="3081528" y="6409944"/>
            <a:ext cx="487375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24" name="Text 21"/>
          <p:cNvSpPr txBox="1"/>
          <p:nvPr/>
        </p:nvSpPr>
        <p:spPr>
          <a:xfrm>
            <a:off x="11517782" y="6409944"/>
            <a:ext cx="55961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of 30</a:t>
            </a:r>
            <a:endParaRPr lang="en-US" sz="11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401654" y="6409944"/>
            <a:ext cx="790042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9830" y="1527962"/>
            <a:ext cx="3810305" cy="3810305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5946" y="6500470"/>
            <a:ext cx="1127455" cy="2670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Auditing Copilot Code with </a:t>
            </a:r>
            <a:pPr algn="ctr" indent="0" marL="0">
              <a:lnSpc>
                <a:spcPts val="5280"/>
              </a:lnSpc>
              <a:buNone/>
            </a:pPr>
            <a:r>
              <a:rPr lang="en-US" sz="3140" b="1" dirty="0">
                <a:solidFill>
                  <a:srgbClr val="082445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/explain</a:t>
            </a:r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ctr" indent="0" marL="0">
              <a:lnSpc>
                <a:spcPts val="5280"/>
              </a:lnSpc>
              <a:buNone/>
            </a:pPr>
            <a:r>
              <a:rPr lang="en-US" sz="3140" b="1" dirty="0">
                <a:solidFill>
                  <a:srgbClr val="082445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/fix</a:t>
            </a:r>
            <a:endParaRPr lang="en-US" sz="3300" dirty="0"/>
          </a:p>
        </p:txBody>
      </p:sp>
      <p:sp>
        <p:nvSpPr>
          <p:cNvPr id="8" name="Text 4"/>
          <p:cNvSpPr txBox="1"/>
          <p:nvPr/>
        </p:nvSpPr>
        <p:spPr>
          <a:xfrm>
            <a:off x="476402" y="1308506"/>
            <a:ext cx="6011266" cy="74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 when AI-generated model code runs without errors, it can hide target leakage or silent row drops</a:t>
            </a:r>
            <a:endParaRPr lang="en-US" sz="1730" dirty="0"/>
          </a:p>
        </p:txBody>
      </p:sp>
      <p:sp>
        <p:nvSpPr>
          <p:cNvPr id="9" name="Text 5"/>
          <p:cNvSpPr txBox="1"/>
          <p:nvPr/>
        </p:nvSpPr>
        <p:spPr>
          <a:xfrm>
            <a:off x="476402" y="2187245"/>
            <a:ext cx="6011266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the pipeline and split code, then use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/explain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a targeted audit checklist before running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/fix</a:t>
            </a:r>
            <a:endParaRPr lang="en-US" sz="1730" dirty="0"/>
          </a:p>
        </p:txBody>
      </p:sp>
      <p:sp>
        <p:nvSpPr>
          <p:cNvPr id="10" name="Text 6"/>
          <p:cNvSpPr txBox="1"/>
          <p:nvPr/>
        </p:nvSpPr>
        <p:spPr>
          <a:xfrm>
            <a:off x="152705" y="6409944"/>
            <a:ext cx="266181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1" name="Text 7"/>
          <p:cNvSpPr txBox="1"/>
          <p:nvPr/>
        </p:nvSpPr>
        <p:spPr>
          <a:xfrm>
            <a:off x="3081528" y="6409944"/>
            <a:ext cx="487283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2" name="Text 8"/>
          <p:cNvSpPr txBox="1"/>
          <p:nvPr/>
        </p:nvSpPr>
        <p:spPr>
          <a:xfrm>
            <a:off x="11515954" y="6409944"/>
            <a:ext cx="5623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of 30</a:t>
            </a:r>
            <a:endParaRPr lang="en-US" sz="11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476402" y="4826203"/>
            <a:ext cx="11162995" cy="1655978"/>
          </a:xfrm>
          <a:prstGeom prst="rect">
            <a:avLst/>
          </a:prstGeom>
          <a:solidFill>
            <a:srgbClr val="EFF3F7"/>
          </a:solidFill>
          <a:ln/>
        </p:spPr>
      </p:sp>
      <p:sp>
        <p:nvSpPr>
          <p:cNvPr id="5" name="Shape 3"/>
          <p:cNvSpPr/>
          <p:nvPr/>
        </p:nvSpPr>
        <p:spPr>
          <a:xfrm>
            <a:off x="476402" y="4826203"/>
            <a:ext cx="38405" cy="1655978"/>
          </a:xfrm>
          <a:prstGeom prst="rect">
            <a:avLst/>
          </a:prstGeom>
          <a:solidFill>
            <a:srgbClr val="8250DF"/>
          </a:solidFill>
          <a:ln/>
        </p:spPr>
      </p:sp>
      <p:sp>
        <p:nvSpPr>
          <p:cNvPr id="6" name="Shape 4"/>
          <p:cNvSpPr/>
          <p:nvPr/>
        </p:nvSpPr>
        <p:spPr>
          <a:xfrm>
            <a:off x="11397082" y="6409944"/>
            <a:ext cx="794614" cy="448056"/>
          </a:xfrm>
          <a:prstGeom prst="rect">
            <a:avLst/>
          </a:prstGeom>
          <a:solidFill>
            <a:srgbClr val="1E71D6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6402" y="1308506"/>
          <a:ext cx="11162995" cy="3326587"/>
        </p:xfrm>
        <a:graphic>
          <a:graphicData uri="http://schemas.openxmlformats.org/drawingml/2006/table">
            <a:tbl>
              <a:tblPr/>
              <a:tblGrid>
                <a:gridCol w="5581498"/>
                <a:gridCol w="5581498"/>
              </a:tblGrid>
              <a:tr h="6653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Bug to Catch</a:t>
                      </a:r>
                      <a:endParaRPr lang="en-US" sz="12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824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Prompt to Run on #selection or #file</a:t>
                      </a:r>
                      <a:endParaRPr lang="en-US" sz="12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82445"/>
                    </a:solidFill>
                  </a:tcPr>
                </a:tc>
              </a:tr>
              <a:tr h="6653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Preprocessing leakage</a:t>
                      </a:r>
                      <a:endParaRPr lang="en-US" sz="12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/explain Does any imputer, scaler, or encoder call fit or fit_transform before the train/test split?</a:t>
                      </a:r>
                      <a:endParaRPr lang="en-US" sz="12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653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Feature leakage</a:t>
                      </a:r>
                      <a:endParaRPr lang="en-US" sz="12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/explain List every column passed into X_train and flag any ID, date, or post-decision outcome column.</a:t>
                      </a:r>
                      <a:endParaRPr lang="en-US" sz="12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653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Random split on time data</a:t>
                      </a:r>
                      <a:endParaRPr lang="en-US" sz="12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/explain How are train and test split? Could rows from a later application_month appear in X_train?</a:t>
                      </a:r>
                      <a:endParaRPr lang="en-US" sz="12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653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Silent row drops</a:t>
                      </a:r>
                      <a:endParaRPr lang="en-US" sz="12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/explain Does the script drop rows with nulls in y_test or X_test without reporting how many were dropped?</a:t>
                      </a:r>
                      <a:endParaRPr lang="en-US" sz="12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2288" y="6500470"/>
            <a:ext cx="1127455" cy="26700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Audit Questions to Paste into Copilot Chat</a:t>
            </a:r>
            <a:endParaRPr lang="en-US" sz="33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4940503"/>
            <a:ext cx="10782605" cy="244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825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Important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5403190"/>
            <a:ext cx="10782605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Ask Copilot to </a:t>
            </a:r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 only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first (“List any issues; do not edit code yet”). Once you confirm the bug, highlight the offending lines and use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/fix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or Inline Chat for a surgical fix.</a:t>
            </a:r>
            <a:endParaRPr lang="en-US" sz="1730" dirty="0"/>
          </a:p>
        </p:txBody>
      </p:sp>
      <p:sp>
        <p:nvSpPr>
          <p:cNvPr id="12" name="Text 8"/>
          <p:cNvSpPr txBox="1"/>
          <p:nvPr/>
        </p:nvSpPr>
        <p:spPr>
          <a:xfrm>
            <a:off x="152705" y="6409944"/>
            <a:ext cx="26609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3" name="Text 9"/>
          <p:cNvSpPr txBox="1"/>
          <p:nvPr/>
        </p:nvSpPr>
        <p:spPr>
          <a:xfrm>
            <a:off x="3080614" y="6409944"/>
            <a:ext cx="487100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4" name="Text 10"/>
          <p:cNvSpPr txBox="1"/>
          <p:nvPr/>
        </p:nvSpPr>
        <p:spPr>
          <a:xfrm>
            <a:off x="11511382" y="6409944"/>
            <a:ext cx="56601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of 30</a:t>
            </a:r>
            <a:endParaRPr lang="en-US" sz="11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476402" y="1910182"/>
            <a:ext cx="11162995" cy="4895698"/>
          </a:xfrm>
          <a:prstGeom prst="roundRect">
            <a:avLst>
              <a:gd name="adj" fmla="val 1550"/>
            </a:avLst>
          </a:prstGeom>
          <a:solidFill>
            <a:srgbClr val="F2F8FF"/>
          </a:solidFill>
          <a:ln/>
        </p:spPr>
      </p:sp>
      <p:sp>
        <p:nvSpPr>
          <p:cNvPr id="5" name="Shape 3"/>
          <p:cNvSpPr/>
          <p:nvPr/>
        </p:nvSpPr>
        <p:spPr>
          <a:xfrm>
            <a:off x="11404397" y="6409944"/>
            <a:ext cx="787298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9603" y="6500470"/>
            <a:ext cx="1127455" cy="2670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Demo: Auditing a Leaky Model Script with Copilot</a:t>
            </a:r>
            <a:endParaRPr lang="en-US" sz="3300" dirty="0"/>
          </a:p>
        </p:txBody>
      </p:sp>
      <p:sp>
        <p:nvSpPr>
          <p:cNvPr id="8" name="Text 5"/>
          <p:cNvSpPr txBox="1"/>
          <p:nvPr/>
        </p:nvSpPr>
        <p:spPr>
          <a:xfrm>
            <a:off x="476402" y="1308506"/>
            <a:ext cx="11162995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Font typeface="+mj-lt"/>
              <a:buAutoNum type="arabicPeriod" startAt="1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VS Code, create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leaky_model.py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paste this intentionally flawed script:</a:t>
            </a:r>
            <a:endParaRPr lang="en-US" sz="1730" dirty="0"/>
          </a:p>
        </p:txBody>
      </p:sp>
      <p:sp>
        <p:nvSpPr>
          <p:cNvPr id="9" name="Text 6"/>
          <p:cNvSpPr txBox="1"/>
          <p:nvPr/>
        </p:nvSpPr>
        <p:spPr>
          <a:xfrm>
            <a:off x="629107" y="2062886"/>
            <a:ext cx="10858500" cy="4591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import pandas as pd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from sklearn.linear_model import LogisticRegression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from sklearn.metrics import roc_auc_score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from sklearn.model_selection import train_test_split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from sklearn.preprocessing import StandardScaler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df = pd.read_csv("modeling_accounts.csv").dropna()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features = ["balance", "credit_limit", "utilization", "default_60d"]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scaler = StandardScaler()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X_scaled = scaler.fit_transform(df[features])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X_train, X_test, y_train, y_test = train_test_split(X_scaled, df["default_60d"], test_size=0.2)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clf = LogisticRegression().fit(X_train, y_train)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print("AUC:", roc_auc_score(y_test, clf.predict_proba(X_test)[:, 1]))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76402" y="6796735"/>
            <a:ext cx="11162995" cy="9144"/>
          </a:xfrm>
          <a:prstGeom prst="rect">
            <a:avLst/>
          </a:prstGeom>
          <a:solidFill>
            <a:srgbClr val="D5E4F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52705" y="6409944"/>
            <a:ext cx="266273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2" name="Text 9"/>
          <p:cNvSpPr txBox="1"/>
          <p:nvPr/>
        </p:nvSpPr>
        <p:spPr>
          <a:xfrm>
            <a:off x="3082442" y="6409944"/>
            <a:ext cx="487466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3" name="Text 10"/>
          <p:cNvSpPr txBox="1"/>
          <p:nvPr/>
        </p:nvSpPr>
        <p:spPr>
          <a:xfrm>
            <a:off x="11518697" y="6409944"/>
            <a:ext cx="55869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of 30</a:t>
            </a:r>
            <a:endParaRPr lang="en-US" sz="11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400739" y="6409944"/>
            <a:ext cx="790956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5946" y="6500470"/>
            <a:ext cx="1127455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Concepts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3771900" y="2681021"/>
            <a:ext cx="4572000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1880" dirty="0">
                <a:solidFill>
                  <a:srgbClr val="8B9B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Generating Model Pipelines</a:t>
            </a:r>
            <a:endParaRPr lang="en-US" sz="1880" dirty="0"/>
          </a:p>
        </p:txBody>
      </p:sp>
      <p:sp>
        <p:nvSpPr>
          <p:cNvPr id="8" name="Shape 5"/>
          <p:cNvSpPr/>
          <p:nvPr/>
        </p:nvSpPr>
        <p:spPr>
          <a:xfrm>
            <a:off x="3771900" y="3161995"/>
            <a:ext cx="4572000" cy="9144"/>
          </a:xfrm>
          <a:prstGeom prst="rect">
            <a:avLst/>
          </a:prstGeom>
          <a:solidFill>
            <a:srgbClr val="E3EAF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771900" y="3380537"/>
            <a:ext cx="4572000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1880" dirty="0">
                <a:solidFill>
                  <a:srgbClr val="8B9B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Prompting for Validation and Tests</a:t>
            </a:r>
            <a:endParaRPr lang="en-US" sz="1880" dirty="0"/>
          </a:p>
        </p:txBody>
      </p:sp>
      <p:sp>
        <p:nvSpPr>
          <p:cNvPr id="10" name="Shape 7"/>
          <p:cNvSpPr/>
          <p:nvPr/>
        </p:nvSpPr>
        <p:spPr>
          <a:xfrm>
            <a:off x="3771900" y="3862426"/>
            <a:ext cx="4572000" cy="9144"/>
          </a:xfrm>
          <a:prstGeom prst="rect">
            <a:avLst/>
          </a:prstGeom>
          <a:solidFill>
            <a:srgbClr val="E3EAF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771900" y="4080967"/>
            <a:ext cx="4267505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188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Notebooks to Modules</a:t>
            </a:r>
            <a:endParaRPr lang="en-US" sz="1880" dirty="0"/>
          </a:p>
        </p:txBody>
      </p:sp>
      <p:sp>
        <p:nvSpPr>
          <p:cNvPr id="12" name="Shape 9"/>
          <p:cNvSpPr/>
          <p:nvPr/>
        </p:nvSpPr>
        <p:spPr>
          <a:xfrm>
            <a:off x="3619195" y="4562856"/>
            <a:ext cx="4572000" cy="9144"/>
          </a:xfrm>
          <a:prstGeom prst="rect">
            <a:avLst/>
          </a:prstGeom>
          <a:solidFill>
            <a:srgbClr val="E3EAF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52705" y="6409944"/>
            <a:ext cx="266181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4" name="Text 11"/>
          <p:cNvSpPr txBox="1"/>
          <p:nvPr/>
        </p:nvSpPr>
        <p:spPr>
          <a:xfrm>
            <a:off x="3081528" y="6409944"/>
            <a:ext cx="487283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5" name="Text 12"/>
          <p:cNvSpPr txBox="1"/>
          <p:nvPr/>
        </p:nvSpPr>
        <p:spPr>
          <a:xfrm>
            <a:off x="11515039" y="6409944"/>
            <a:ext cx="5623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of 30</a:t>
            </a:r>
            <a:endParaRPr lang="en-US" sz="11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410798" y="6409944"/>
            <a:ext cx="780898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1620" y="1118311"/>
            <a:ext cx="9052560" cy="509229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4175" y="6500470"/>
            <a:ext cx="1127455" cy="2670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Extracting Notebooks into Modules One Block at a Time</a:t>
            </a:r>
            <a:endParaRPr lang="en-US" sz="3300" dirty="0"/>
          </a:p>
        </p:txBody>
      </p:sp>
      <p:sp>
        <p:nvSpPr>
          <p:cNvPr id="8" name="Text 4"/>
          <p:cNvSpPr txBox="1"/>
          <p:nvPr/>
        </p:nvSpPr>
        <p:spPr>
          <a:xfrm>
            <a:off x="152705" y="6409944"/>
            <a:ext cx="266456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9" name="Text 5"/>
          <p:cNvSpPr txBox="1"/>
          <p:nvPr/>
        </p:nvSpPr>
        <p:spPr>
          <a:xfrm>
            <a:off x="3083357" y="6409944"/>
            <a:ext cx="487741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0" name="Text 6"/>
          <p:cNvSpPr txBox="1"/>
          <p:nvPr/>
        </p:nvSpPr>
        <p:spPr>
          <a:xfrm>
            <a:off x="11525098" y="6409944"/>
            <a:ext cx="55229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 of 30</a:t>
            </a:r>
            <a:endParaRPr lang="en-US" sz="114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400739" y="6409944"/>
            <a:ext cx="790956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5946" y="6500470"/>
            <a:ext cx="1127455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to Refactor a Notebook with Copilot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476402" y="1251814"/>
            <a:ext cx="5410505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195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Happens When You Prompt All at Once</a:t>
            </a:r>
            <a:endParaRPr lang="en-US" sz="1950" dirty="0"/>
          </a:p>
        </p:txBody>
      </p:sp>
      <p:sp>
        <p:nvSpPr>
          <p:cNvPr id="8" name="Text 5"/>
          <p:cNvSpPr txBox="1"/>
          <p:nvPr/>
        </p:nvSpPr>
        <p:spPr>
          <a:xfrm>
            <a:off x="476402" y="1857146"/>
            <a:ext cx="5409590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“Convert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#file notebook.ipynb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into a Python package”</a:t>
            </a:r>
            <a:endParaRPr lang="en-US" sz="1580" dirty="0"/>
          </a:p>
        </p:txBody>
      </p:sp>
      <p:sp>
        <p:nvSpPr>
          <p:cNvPr id="9" name="Text 6"/>
          <p:cNvSpPr txBox="1"/>
          <p:nvPr/>
        </p:nvSpPr>
        <p:spPr>
          <a:xfrm>
            <a:off x="476402" y="2633472"/>
            <a:ext cx="54095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Copilot merges cells, renames variables mid-flight, and drops filter steps</a:t>
            </a:r>
            <a:endParaRPr lang="en-US" sz="1580" dirty="0"/>
          </a:p>
        </p:txBody>
      </p:sp>
      <p:sp>
        <p:nvSpPr>
          <p:cNvPr id="10" name="Text 7"/>
          <p:cNvSpPr txBox="1"/>
          <p:nvPr/>
        </p:nvSpPr>
        <p:spPr>
          <a:xfrm>
            <a:off x="476402" y="3407054"/>
            <a:ext cx="54095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Gives you a 300-line diff that is impossible to verify against the notebook</a:t>
            </a:r>
            <a:endParaRPr lang="en-US" sz="1580" dirty="0"/>
          </a:p>
        </p:txBody>
      </p:sp>
      <p:sp>
        <p:nvSpPr>
          <p:cNvPr id="11" name="Text 8"/>
          <p:cNvSpPr txBox="1"/>
          <p:nvPr/>
        </p:nvSpPr>
        <p:spPr>
          <a:xfrm>
            <a:off x="6229807" y="1251814"/>
            <a:ext cx="5410505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195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Staged Copilot Workflow</a:t>
            </a:r>
            <a:endParaRPr lang="en-US" sz="1950" dirty="0"/>
          </a:p>
        </p:txBody>
      </p:sp>
      <p:sp>
        <p:nvSpPr>
          <p:cNvPr id="12" name="Text 9"/>
          <p:cNvSpPr txBox="1"/>
          <p:nvPr/>
        </p:nvSpPr>
        <p:spPr>
          <a:xfrm>
            <a:off x="6229807" y="1857146"/>
            <a:ext cx="5409590" cy="128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1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Attach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#file notebook.ipynb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Chat (or press CMD+I / CTRL+I inside an individual notebook cell) and ask for a module extraction plan (no code yet)</a:t>
            </a:r>
            <a:endParaRPr lang="en-US" sz="1580" dirty="0"/>
          </a:p>
        </p:txBody>
      </p:sp>
      <p:sp>
        <p:nvSpPr>
          <p:cNvPr id="13" name="Text 10"/>
          <p:cNvSpPr txBox="1"/>
          <p:nvPr/>
        </p:nvSpPr>
        <p:spPr>
          <a:xfrm>
            <a:off x="6229807" y="3273552"/>
            <a:ext cx="5409590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2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Select one logical cell group (such as feature prep) and prompt Chat to extract it into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src/features.py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type hints</a:t>
            </a:r>
            <a:endParaRPr lang="en-US" sz="1580" dirty="0"/>
          </a:p>
        </p:txBody>
      </p:sp>
      <p:sp>
        <p:nvSpPr>
          <p:cNvPr id="14" name="Text 11"/>
          <p:cNvSpPr txBox="1"/>
          <p:nvPr/>
        </p:nvSpPr>
        <p:spPr>
          <a:xfrm>
            <a:off x="6229807" y="4369918"/>
            <a:ext cx="5409590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3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Run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/tests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src/features.py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verify output parity before extracting the next cell group</a:t>
            </a:r>
            <a:endParaRPr lang="en-US" sz="1580" dirty="0"/>
          </a:p>
        </p:txBody>
      </p:sp>
      <p:sp>
        <p:nvSpPr>
          <p:cNvPr id="15" name="Text 12"/>
          <p:cNvSpPr txBox="1"/>
          <p:nvPr/>
        </p:nvSpPr>
        <p:spPr>
          <a:xfrm>
            <a:off x="152705" y="6409944"/>
            <a:ext cx="266181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6" name="Text 13"/>
          <p:cNvSpPr txBox="1"/>
          <p:nvPr/>
        </p:nvSpPr>
        <p:spPr>
          <a:xfrm>
            <a:off x="3081528" y="6409944"/>
            <a:ext cx="487283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7" name="Text 14"/>
          <p:cNvSpPr txBox="1"/>
          <p:nvPr/>
        </p:nvSpPr>
        <p:spPr>
          <a:xfrm>
            <a:off x="11515039" y="6409944"/>
            <a:ext cx="5623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of 30</a:t>
            </a:r>
            <a:endParaRPr lang="en-US" sz="114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400739" y="6409944"/>
            <a:ext cx="790956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3925519"/>
            <a:ext cx="5623560" cy="2284171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5946" y="6500470"/>
            <a:ext cx="1127455" cy="2670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Grounding Copilot When Summarizing Model Output</a:t>
            </a:r>
            <a:endParaRPr lang="en-US" sz="3300" dirty="0"/>
          </a:p>
        </p:txBody>
      </p:sp>
      <p:sp>
        <p:nvSpPr>
          <p:cNvPr id="8" name="Text 4"/>
          <p:cNvSpPr txBox="1"/>
          <p:nvPr/>
        </p:nvSpPr>
        <p:spPr>
          <a:xfrm>
            <a:off x="476402" y="1079906"/>
            <a:ext cx="11162995" cy="74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you ask Copilot to “write a validation summary report” with no data attached, it invents plausible-sounding AUC and KS numbers</a:t>
            </a:r>
            <a:endParaRPr lang="en-US" sz="1730" dirty="0"/>
          </a:p>
        </p:txBody>
      </p:sp>
      <p:sp>
        <p:nvSpPr>
          <p:cNvPr id="9" name="Text 5"/>
          <p:cNvSpPr txBox="1"/>
          <p:nvPr/>
        </p:nvSpPr>
        <p:spPr>
          <a:xfrm>
            <a:off x="476402" y="1958645"/>
            <a:ext cx="11162995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Always save your script’s actual metrics to a file (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metrics_output.json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or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decile_table.csv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and attach that file with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#file</a:t>
            </a:r>
            <a:endParaRPr lang="en-US" sz="1730" dirty="0"/>
          </a:p>
        </p:txBody>
      </p:sp>
      <p:sp>
        <p:nvSpPr>
          <p:cNvPr id="10" name="Text 6"/>
          <p:cNvSpPr txBox="1"/>
          <p:nvPr/>
        </p:nvSpPr>
        <p:spPr>
          <a:xfrm>
            <a:off x="476402" y="2837383"/>
            <a:ext cx="11162995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an explicit grounding constraint: “Use only numbers present in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#file metrics_output.json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; mark any missing item as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TODO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”</a:t>
            </a:r>
            <a:endParaRPr lang="en-US" sz="1730" dirty="0"/>
          </a:p>
        </p:txBody>
      </p:sp>
      <p:sp>
        <p:nvSpPr>
          <p:cNvPr id="11" name="Text 7"/>
          <p:cNvSpPr txBox="1"/>
          <p:nvPr/>
        </p:nvSpPr>
        <p:spPr>
          <a:xfrm>
            <a:off x="152705" y="6409944"/>
            <a:ext cx="266181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2" name="Text 8"/>
          <p:cNvSpPr txBox="1"/>
          <p:nvPr/>
        </p:nvSpPr>
        <p:spPr>
          <a:xfrm>
            <a:off x="3081528" y="6409944"/>
            <a:ext cx="487283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3" name="Text 9"/>
          <p:cNvSpPr txBox="1"/>
          <p:nvPr/>
        </p:nvSpPr>
        <p:spPr>
          <a:xfrm>
            <a:off x="11515039" y="6409944"/>
            <a:ext cx="5623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of 30</a:t>
            </a:r>
            <a:endParaRPr lang="en-US" sz="114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476402" y="1308506"/>
            <a:ext cx="11162995" cy="2762402"/>
          </a:xfrm>
          <a:prstGeom prst="roundRect">
            <a:avLst>
              <a:gd name="adj" fmla="val 2747"/>
            </a:avLst>
          </a:prstGeom>
          <a:solidFill>
            <a:srgbClr val="F2F8FF"/>
          </a:solidFill>
          <a:ln/>
        </p:spPr>
      </p:sp>
      <p:sp>
        <p:nvSpPr>
          <p:cNvPr id="5" name="Shape 3"/>
          <p:cNvSpPr/>
          <p:nvPr/>
        </p:nvSpPr>
        <p:spPr>
          <a:xfrm>
            <a:off x="476402" y="4261104"/>
            <a:ext cx="11162995" cy="1655978"/>
          </a:xfrm>
          <a:prstGeom prst="rect">
            <a:avLst/>
          </a:prstGeom>
          <a:solidFill>
            <a:srgbClr val="EFF3F7"/>
          </a:solidFill>
          <a:ln/>
        </p:spPr>
      </p:sp>
      <p:sp>
        <p:nvSpPr>
          <p:cNvPr id="6" name="Shape 4"/>
          <p:cNvSpPr/>
          <p:nvPr/>
        </p:nvSpPr>
        <p:spPr>
          <a:xfrm>
            <a:off x="476402" y="4261104"/>
            <a:ext cx="38405" cy="1655978"/>
          </a:xfrm>
          <a:prstGeom prst="rect">
            <a:avLst/>
          </a:prstGeom>
          <a:solidFill>
            <a:srgbClr val="9A6700"/>
          </a:solidFill>
          <a:ln/>
        </p:spPr>
      </p:sp>
      <p:sp>
        <p:nvSpPr>
          <p:cNvPr id="7" name="Shape 5"/>
          <p:cNvSpPr/>
          <p:nvPr/>
        </p:nvSpPr>
        <p:spPr>
          <a:xfrm>
            <a:off x="11368735" y="6409944"/>
            <a:ext cx="822960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8514" y="6500470"/>
            <a:ext cx="1127455" cy="2670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Prompting for a Grounded Validation Summary</a:t>
            </a:r>
            <a:endParaRPr lang="en-US" sz="3300" dirty="0"/>
          </a:p>
        </p:txBody>
      </p:sp>
      <p:sp>
        <p:nvSpPr>
          <p:cNvPr id="10" name="Text 7"/>
          <p:cNvSpPr txBox="1"/>
          <p:nvPr/>
        </p:nvSpPr>
        <p:spPr>
          <a:xfrm>
            <a:off x="629107" y="1461211"/>
            <a:ext cx="10858500" cy="2457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Using #file metrics_output.json, #file decile_table.csv, and #file train_baseline.py,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create validation_summary.md with these sections: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1. Model Overview (target column, train/test split dates, and feature list read from train_baseline.py)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2. Holdout Metrics (exact ROC AUC and KS from metrics_output.json)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3. Decile Capture Table (formatted as a Markdown table from decile_table.csv)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4. Open Questions / TODOs (leave threshold selection and business sign-off as TODO)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Rule: Do not invent any metric values. If a metric is not in metrics_output.json, write TODO.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76402" y="4061765"/>
            <a:ext cx="11162995" cy="9144"/>
          </a:xfrm>
          <a:prstGeom prst="rect">
            <a:avLst/>
          </a:prstGeom>
          <a:solidFill>
            <a:srgbClr val="D5E4F5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85800" y="4375404"/>
            <a:ext cx="10782605" cy="244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9A6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Warning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4839005"/>
            <a:ext cx="10782605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Always compare every number in the generated Markdown table against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metrics_output.json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decile_table.csv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before sharing the file.</a:t>
            </a:r>
            <a:endParaRPr lang="en-US" sz="1730" dirty="0"/>
          </a:p>
        </p:txBody>
      </p:sp>
      <p:sp>
        <p:nvSpPr>
          <p:cNvPr id="14" name="Text 11"/>
          <p:cNvSpPr txBox="1"/>
          <p:nvPr/>
        </p:nvSpPr>
        <p:spPr>
          <a:xfrm>
            <a:off x="152705" y="6409944"/>
            <a:ext cx="265450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5" name="Text 12"/>
          <p:cNvSpPr txBox="1"/>
          <p:nvPr/>
        </p:nvSpPr>
        <p:spPr>
          <a:xfrm>
            <a:off x="3073298" y="6409944"/>
            <a:ext cx="4858207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6" name="Text 13"/>
          <p:cNvSpPr txBox="1"/>
          <p:nvPr/>
        </p:nvSpPr>
        <p:spPr>
          <a:xfrm>
            <a:off x="11483035" y="6409944"/>
            <a:ext cx="59527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of 30</a:t>
            </a:r>
            <a:endParaRPr lang="en-US" sz="114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476402" y="2788920"/>
            <a:ext cx="11162995" cy="1543507"/>
          </a:xfrm>
          <a:prstGeom prst="roundRect">
            <a:avLst>
              <a:gd name="adj" fmla="val 4917"/>
            </a:avLst>
          </a:prstGeom>
          <a:solidFill>
            <a:srgbClr val="F2F8FF"/>
          </a:solidFill>
          <a:ln/>
        </p:spPr>
      </p:sp>
      <p:sp>
        <p:nvSpPr>
          <p:cNvPr id="5" name="Shape 3"/>
          <p:cNvSpPr/>
          <p:nvPr/>
        </p:nvSpPr>
        <p:spPr>
          <a:xfrm>
            <a:off x="11403482" y="6409944"/>
            <a:ext cx="788213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7774" y="6500470"/>
            <a:ext cx="1127455" cy="2670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Demo: Generate and Summarize Validation Output</a:t>
            </a:r>
            <a:endParaRPr lang="en-US" sz="3300" dirty="0"/>
          </a:p>
        </p:txBody>
      </p:sp>
      <p:sp>
        <p:nvSpPr>
          <p:cNvPr id="8" name="Text 5"/>
          <p:cNvSpPr txBox="1"/>
          <p:nvPr/>
        </p:nvSpPr>
        <p:spPr>
          <a:xfrm>
            <a:off x="476402" y="1308506"/>
            <a:ext cx="11162995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Font typeface="+mj-lt"/>
              <a:buAutoNum type="arabicPeriod" startAt="1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VS Code, open Copilot Chat (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&lt;/&gt; Agent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</a:t>
            </a:r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mode) and attach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#file train_baseline.py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from earlier.</a:t>
            </a:r>
            <a:endParaRPr lang="en-US" sz="1730" dirty="0"/>
          </a:p>
        </p:txBody>
      </p:sp>
      <p:sp>
        <p:nvSpPr>
          <p:cNvPr id="9" name="Text 6"/>
          <p:cNvSpPr txBox="1"/>
          <p:nvPr/>
        </p:nvSpPr>
        <p:spPr>
          <a:xfrm>
            <a:off x="476402" y="2187245"/>
            <a:ext cx="11162995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Font typeface="+mj-lt"/>
              <a:buAutoNum type="arabicPeriod" startAt="1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 Copilot to add evaluation output saving at the bottom of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train_baseline.py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</a:t>
            </a:r>
            <a:endParaRPr lang="en-US" sz="1730" dirty="0"/>
          </a:p>
        </p:txBody>
      </p:sp>
      <p:sp>
        <p:nvSpPr>
          <p:cNvPr id="10" name="Text 7"/>
          <p:cNvSpPr txBox="1"/>
          <p:nvPr/>
        </p:nvSpPr>
        <p:spPr>
          <a:xfrm>
            <a:off x="629107" y="2940710"/>
            <a:ext cx="10858500" cy="1238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Update #file train_baseline.py so that after scoring the test set, it: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1. Computes test ROC AUC, KS statistic, and a 10-bin decile table.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2. Writes train_rows, test_rows, roc_auc, and ks to metrics_output.json.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3. Writes the decile table to decile_table.csv.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76402" y="4323283"/>
            <a:ext cx="11162995" cy="9144"/>
          </a:xfrm>
          <a:prstGeom prst="rect">
            <a:avLst/>
          </a:prstGeom>
          <a:solidFill>
            <a:srgbClr val="D5E4F5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76402" y="4522622"/>
            <a:ext cx="11162995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Font typeface="+mj-lt"/>
              <a:buAutoNum type="arabicPeriod" startAt="1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python train_baseline.py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so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metrics_output.json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decile_table.csv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are created on disk.</a:t>
            </a:r>
            <a:endParaRPr lang="en-US" sz="1730" dirty="0"/>
          </a:p>
        </p:txBody>
      </p:sp>
      <p:sp>
        <p:nvSpPr>
          <p:cNvPr id="13" name="Text 10"/>
          <p:cNvSpPr txBox="1"/>
          <p:nvPr/>
        </p:nvSpPr>
        <p:spPr>
          <a:xfrm>
            <a:off x="476402" y="5028286"/>
            <a:ext cx="11162995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Font typeface="+mj-lt"/>
              <a:buAutoNum type="arabicPeriod" startAt="1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Copilot Chat, attach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#file metrics_output.json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#file decile_table.csv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prompt Copilot to generate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validation_summary.md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using only the numbers in those two files.</a:t>
            </a:r>
            <a:endParaRPr lang="en-US" sz="1730" dirty="0"/>
          </a:p>
        </p:txBody>
      </p:sp>
      <p:sp>
        <p:nvSpPr>
          <p:cNvPr id="14" name="Text 11"/>
          <p:cNvSpPr txBox="1"/>
          <p:nvPr/>
        </p:nvSpPr>
        <p:spPr>
          <a:xfrm>
            <a:off x="152705" y="6409944"/>
            <a:ext cx="266273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5" name="Text 12"/>
          <p:cNvSpPr txBox="1"/>
          <p:nvPr/>
        </p:nvSpPr>
        <p:spPr>
          <a:xfrm>
            <a:off x="3081528" y="6409944"/>
            <a:ext cx="487375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6" name="Text 13"/>
          <p:cNvSpPr txBox="1"/>
          <p:nvPr/>
        </p:nvSpPr>
        <p:spPr>
          <a:xfrm>
            <a:off x="11517782" y="6409944"/>
            <a:ext cx="55961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 of 30</a:t>
            </a:r>
            <a:endParaRPr lang="en-US" sz="114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375136" y="6409944"/>
            <a:ext cx="816559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6500470"/>
            <a:ext cx="1127455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3: Hands-On Lab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476402" y="1308506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Lab: </a:t>
            </a:r>
            <a:pPr algn="l" indent="0" marL="0">
              <a:lnSpc>
                <a:spcPts val="2930"/>
              </a:lnSpc>
              <a:buNone/>
            </a:pPr>
            <a:r>
              <a:rPr lang="en-US" sz="1730" u="sng" dirty="0">
                <a:solidFill>
                  <a:srgbClr val="1E71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AI-Assisted Model and Strategy Validation</a:t>
            </a:r>
            <a:endParaRPr lang="en-US" sz="1730" dirty="0"/>
          </a:p>
        </p:txBody>
      </p:sp>
      <p:sp>
        <p:nvSpPr>
          <p:cNvPr id="8" name="Text 5"/>
          <p:cNvSpPr txBox="1"/>
          <p:nvPr/>
        </p:nvSpPr>
        <p:spPr>
          <a:xfrm>
            <a:off x="476402" y="1814170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Time: 30 minutes</a:t>
            </a:r>
            <a:endParaRPr lang="en-US" sz="1730" dirty="0"/>
          </a:p>
        </p:txBody>
      </p:sp>
      <p:sp>
        <p:nvSpPr>
          <p:cNvPr id="9" name="Text 6"/>
          <p:cNvSpPr txBox="1"/>
          <p:nvPr/>
        </p:nvSpPr>
        <p:spPr>
          <a:xfrm>
            <a:off x="152705" y="6409944"/>
            <a:ext cx="265541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0" name="Text 7"/>
          <p:cNvSpPr txBox="1"/>
          <p:nvPr/>
        </p:nvSpPr>
        <p:spPr>
          <a:xfrm>
            <a:off x="3075127" y="6409944"/>
            <a:ext cx="486095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1" name="Text 8"/>
          <p:cNvSpPr txBox="1"/>
          <p:nvPr/>
        </p:nvSpPr>
        <p:spPr>
          <a:xfrm>
            <a:off x="11489436" y="6409944"/>
            <a:ext cx="58795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 of 30</a:t>
            </a:r>
            <a:endParaRPr lang="en-US" sz="114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372393" y="6409944"/>
            <a:ext cx="819302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1257" y="6500470"/>
            <a:ext cx="1127455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You Learned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476402" y="1308506"/>
            <a:ext cx="11162995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Prompted Copilot Chat to scaffold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scikit-learn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feature and model pipelines</a:t>
            </a:r>
            <a:endParaRPr lang="en-US" sz="1730" dirty="0"/>
          </a:p>
        </p:txBody>
      </p:sp>
      <p:sp>
        <p:nvSpPr>
          <p:cNvPr id="8" name="Text 5"/>
          <p:cNvSpPr txBox="1"/>
          <p:nvPr/>
        </p:nvSpPr>
        <p:spPr>
          <a:xfrm>
            <a:off x="476402" y="1815084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 Inline Chat and ghost text to add custom transformers and estimators</a:t>
            </a:r>
            <a:endParaRPr lang="en-US" sz="1730" dirty="0"/>
          </a:p>
        </p:txBody>
      </p:sp>
      <p:sp>
        <p:nvSpPr>
          <p:cNvPr id="9" name="Text 6"/>
          <p:cNvSpPr txBox="1"/>
          <p:nvPr/>
        </p:nvSpPr>
        <p:spPr>
          <a:xfrm>
            <a:off x="476402" y="2320747"/>
            <a:ext cx="11162995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Directed Copilot to generate validation scripts, then verify them with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/tests</a:t>
            </a:r>
            <a:endParaRPr lang="en-US" sz="1730" dirty="0"/>
          </a:p>
        </p:txBody>
      </p:sp>
      <p:sp>
        <p:nvSpPr>
          <p:cNvPr id="10" name="Text 7"/>
          <p:cNvSpPr txBox="1"/>
          <p:nvPr/>
        </p:nvSpPr>
        <p:spPr>
          <a:xfrm>
            <a:off x="476402" y="2826410"/>
            <a:ext cx="11162995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Audited AI-generated modeling code for bugs using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/explain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/fix</a:t>
            </a:r>
            <a:endParaRPr lang="en-US" sz="1730" dirty="0"/>
          </a:p>
        </p:txBody>
      </p:sp>
      <p:sp>
        <p:nvSpPr>
          <p:cNvPr id="11" name="Text 8"/>
          <p:cNvSpPr txBox="1"/>
          <p:nvPr/>
        </p:nvSpPr>
        <p:spPr>
          <a:xfrm>
            <a:off x="476402" y="3332988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Extracted Jupyter notebook cells into reusable Python modules</a:t>
            </a:r>
            <a:endParaRPr lang="en-US" sz="1730" dirty="0"/>
          </a:p>
        </p:txBody>
      </p:sp>
      <p:sp>
        <p:nvSpPr>
          <p:cNvPr id="12" name="Text 9"/>
          <p:cNvSpPr txBox="1"/>
          <p:nvPr/>
        </p:nvSpPr>
        <p:spPr>
          <a:xfrm>
            <a:off x="152705" y="6409944"/>
            <a:ext cx="265541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3" name="Text 10"/>
          <p:cNvSpPr txBox="1"/>
          <p:nvPr/>
        </p:nvSpPr>
        <p:spPr>
          <a:xfrm>
            <a:off x="3074213" y="6409944"/>
            <a:ext cx="48600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4" name="Text 11"/>
          <p:cNvSpPr txBox="1"/>
          <p:nvPr/>
        </p:nvSpPr>
        <p:spPr>
          <a:xfrm>
            <a:off x="11486693" y="6409944"/>
            <a:ext cx="59070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 of 30</a:t>
            </a:r>
            <a:endParaRPr lang="en-US" sz="114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370564" y="6409944"/>
            <a:ext cx="821131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9428" y="6500470"/>
            <a:ext cx="1127455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Quiz 1 of 3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476402" y="1308506"/>
            <a:ext cx="11162995" cy="74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you ask Copilot Chat to generate a model training script with a vague prompt like “Train a model on my dataset,” what does Copilot typically generate?</a:t>
            </a:r>
            <a:endParaRPr lang="en-US" sz="1730" dirty="0"/>
          </a:p>
        </p:txBody>
      </p:sp>
      <p:sp>
        <p:nvSpPr>
          <p:cNvPr id="8" name="Text 5"/>
          <p:cNvSpPr txBox="1"/>
          <p:nvPr/>
        </p:nvSpPr>
        <p:spPr>
          <a:xfrm>
            <a:off x="476402" y="2272284"/>
            <a:ext cx="11162995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A. An out-of-time split with a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ColumnTransformer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tailored to your exact credit policy</a:t>
            </a:r>
            <a:endParaRPr lang="en-US" sz="1730" dirty="0"/>
          </a:p>
        </p:txBody>
      </p:sp>
      <p:sp>
        <p:nvSpPr>
          <p:cNvPr id="9" name="Text 6"/>
          <p:cNvSpPr txBox="1"/>
          <p:nvPr/>
        </p:nvSpPr>
        <p:spPr>
          <a:xfrm>
            <a:off x="476402" y="2864815"/>
            <a:ext cx="11162995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B. A generic script with a random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train_test_split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guessed column names, and risk of fitting preprocessors on the full dataset</a:t>
            </a:r>
            <a:endParaRPr lang="en-US" sz="1730" dirty="0"/>
          </a:p>
        </p:txBody>
      </p:sp>
      <p:sp>
        <p:nvSpPr>
          <p:cNvPr id="10" name="Text 7"/>
          <p:cNvSpPr txBox="1"/>
          <p:nvPr/>
        </p:nvSpPr>
        <p:spPr>
          <a:xfrm>
            <a:off x="476402" y="3828593"/>
            <a:ext cx="11162995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C. A syntax error, because Copilot cannot write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scikit-learn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code</a:t>
            </a:r>
            <a:endParaRPr lang="en-US" sz="1730" dirty="0"/>
          </a:p>
        </p:txBody>
      </p:sp>
      <p:sp>
        <p:nvSpPr>
          <p:cNvPr id="11" name="Text 8"/>
          <p:cNvSpPr txBox="1"/>
          <p:nvPr/>
        </p:nvSpPr>
        <p:spPr>
          <a:xfrm>
            <a:off x="476402" y="4420210"/>
            <a:ext cx="11162995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D. A pre-populated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metrics_output.json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file from your production database</a:t>
            </a:r>
            <a:endParaRPr lang="en-US" sz="1730" dirty="0"/>
          </a:p>
        </p:txBody>
      </p:sp>
      <p:sp>
        <p:nvSpPr>
          <p:cNvPr id="12" name="Text 9"/>
          <p:cNvSpPr txBox="1"/>
          <p:nvPr/>
        </p:nvSpPr>
        <p:spPr>
          <a:xfrm>
            <a:off x="152705" y="6409944"/>
            <a:ext cx="265450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3" name="Text 10"/>
          <p:cNvSpPr txBox="1"/>
          <p:nvPr/>
        </p:nvSpPr>
        <p:spPr>
          <a:xfrm>
            <a:off x="3073298" y="6409944"/>
            <a:ext cx="4858207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4" name="Text 11"/>
          <p:cNvSpPr txBox="1"/>
          <p:nvPr/>
        </p:nvSpPr>
        <p:spPr>
          <a:xfrm>
            <a:off x="11484864" y="6409944"/>
            <a:ext cx="592531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 of 30</a:t>
            </a:r>
            <a:endParaRPr lang="en-US" sz="114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376050" y="6409944"/>
            <a:ext cx="815645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914" y="6500470"/>
            <a:ext cx="1127455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Quiz 1: Answer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476402" y="1308506"/>
            <a:ext cx="11162995" cy="74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you ask Copilot Chat to generate a model training script with a vague prompt like “Train a model on my dataset,” what does Copilot typically generate?</a:t>
            </a:r>
            <a:endParaRPr lang="en-US" sz="1730" dirty="0"/>
          </a:p>
        </p:txBody>
      </p:sp>
      <p:sp>
        <p:nvSpPr>
          <p:cNvPr id="8" name="Text 5"/>
          <p:cNvSpPr txBox="1"/>
          <p:nvPr/>
        </p:nvSpPr>
        <p:spPr>
          <a:xfrm>
            <a:off x="476402" y="2272284"/>
            <a:ext cx="11162995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Correct: B.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generic script with a random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train_test_split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guessed column names, and risk of fitting preprocessors on the full dataset.</a:t>
            </a:r>
            <a:endParaRPr lang="en-US" sz="1730" dirty="0"/>
          </a:p>
        </p:txBody>
      </p:sp>
      <p:sp>
        <p:nvSpPr>
          <p:cNvPr id="9" name="Text 6"/>
          <p:cNvSpPr txBox="1"/>
          <p:nvPr/>
        </p:nvSpPr>
        <p:spPr>
          <a:xfrm>
            <a:off x="476402" y="3236976"/>
            <a:ext cx="11162995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#file schema.md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explicit split instructions, Copilot falls back to generic tutorial patterns</a:t>
            </a:r>
            <a:endParaRPr lang="en-US" sz="1730" dirty="0"/>
          </a:p>
        </p:txBody>
      </p:sp>
      <p:sp>
        <p:nvSpPr>
          <p:cNvPr id="10" name="Text 7"/>
          <p:cNvSpPr txBox="1"/>
          <p:nvPr/>
        </p:nvSpPr>
        <p:spPr>
          <a:xfrm>
            <a:off x="476402" y="3742639"/>
            <a:ext cx="11162995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Naming the date-split column, forbidden columns, and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scikit-learn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Pipeline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structure in your prompt prevents preprocessing leakage</a:t>
            </a:r>
            <a:endParaRPr lang="en-US" sz="1730" dirty="0"/>
          </a:p>
        </p:txBody>
      </p:sp>
      <p:sp>
        <p:nvSpPr>
          <p:cNvPr id="11" name="Text 8"/>
          <p:cNvSpPr txBox="1"/>
          <p:nvPr/>
        </p:nvSpPr>
        <p:spPr>
          <a:xfrm>
            <a:off x="476402" y="4621378"/>
            <a:ext cx="11162995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can then use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/explain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audit the generated script before trusting its output</a:t>
            </a:r>
            <a:endParaRPr lang="en-US" sz="1730" dirty="0"/>
          </a:p>
        </p:txBody>
      </p:sp>
      <p:sp>
        <p:nvSpPr>
          <p:cNvPr id="12" name="Text 9"/>
          <p:cNvSpPr txBox="1"/>
          <p:nvPr/>
        </p:nvSpPr>
        <p:spPr>
          <a:xfrm>
            <a:off x="152705" y="6409944"/>
            <a:ext cx="26563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3" name="Text 10"/>
          <p:cNvSpPr txBox="1"/>
          <p:nvPr/>
        </p:nvSpPr>
        <p:spPr>
          <a:xfrm>
            <a:off x="3075127" y="6409944"/>
            <a:ext cx="486095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4" name="Text 11"/>
          <p:cNvSpPr txBox="1"/>
          <p:nvPr/>
        </p:nvSpPr>
        <p:spPr>
          <a:xfrm>
            <a:off x="11490350" y="6409944"/>
            <a:ext cx="58704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of 30</a:t>
            </a:r>
            <a:endParaRPr lang="en-US" sz="114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372393" y="6409944"/>
            <a:ext cx="819302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1257" y="6500470"/>
            <a:ext cx="1127455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Quiz 2 of 3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476402" y="1308506"/>
            <a:ext cx="11162995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want Copilot Chat to draft a Markdown summary of your model’s holdout performance (</a:t>
            </a:r>
            <a:pPr algn="l" indent="0" marL="0">
              <a:lnSpc>
                <a:spcPts val="2930"/>
              </a:lnSpc>
              <a:buNone/>
            </a:pPr>
            <a:r>
              <a:rPr lang="en-US" sz="1640" b="1" dirty="0">
                <a:solidFill>
                  <a:srgbClr val="082445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ROC AUC</a:t>
            </a:r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930"/>
              </a:lnSpc>
              <a:buNone/>
            </a:pPr>
            <a:r>
              <a:rPr lang="en-US" sz="1640" b="1" dirty="0">
                <a:solidFill>
                  <a:srgbClr val="082445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KS</a:t>
            </a:r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decile table) without hallucinating any numbers. How should you prompt it?</a:t>
            </a:r>
            <a:endParaRPr lang="en-US" sz="1730" dirty="0"/>
          </a:p>
        </p:txBody>
      </p:sp>
      <p:sp>
        <p:nvSpPr>
          <p:cNvPr id="8" name="Text 5"/>
          <p:cNvSpPr txBox="1"/>
          <p:nvPr/>
        </p:nvSpPr>
        <p:spPr>
          <a:xfrm>
            <a:off x="476402" y="2273198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A. Ask Copilot to estimate typical credit card AUC and KS values for a baseline logistic regression model</a:t>
            </a:r>
            <a:endParaRPr lang="en-US" sz="1730" dirty="0"/>
          </a:p>
        </p:txBody>
      </p:sp>
      <p:sp>
        <p:nvSpPr>
          <p:cNvPr id="9" name="Text 6"/>
          <p:cNvSpPr txBox="1"/>
          <p:nvPr/>
        </p:nvSpPr>
        <p:spPr>
          <a:xfrm>
            <a:off x="476402" y="2864815"/>
            <a:ext cx="11162995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B. Attach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#file train_baseline.py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only and ask Copilot to predict what the metrics will be when the code runs</a:t>
            </a:r>
            <a:endParaRPr lang="en-US" sz="1730" dirty="0"/>
          </a:p>
        </p:txBody>
      </p:sp>
      <p:sp>
        <p:nvSpPr>
          <p:cNvPr id="10" name="Text 7"/>
          <p:cNvSpPr txBox="1"/>
          <p:nvPr/>
        </p:nvSpPr>
        <p:spPr>
          <a:xfrm>
            <a:off x="476402" y="3828593"/>
            <a:ext cx="11162995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C. Save the actual run metrics to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metrics_output.json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decile_table.csv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attach both files with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#file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instruct Copilot to cite only numbers from those files (marking missing items as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TODO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1730" dirty="0"/>
          </a:p>
        </p:txBody>
      </p:sp>
      <p:sp>
        <p:nvSpPr>
          <p:cNvPr id="11" name="Text 8"/>
          <p:cNvSpPr txBox="1"/>
          <p:nvPr/>
        </p:nvSpPr>
        <p:spPr>
          <a:xfrm>
            <a:off x="476402" y="4793285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D. Use inline ghost text inside an empty Markdown file with no context files open</a:t>
            </a:r>
            <a:endParaRPr lang="en-US" sz="1730" dirty="0"/>
          </a:p>
        </p:txBody>
      </p:sp>
      <p:sp>
        <p:nvSpPr>
          <p:cNvPr id="12" name="Text 9"/>
          <p:cNvSpPr txBox="1"/>
          <p:nvPr/>
        </p:nvSpPr>
        <p:spPr>
          <a:xfrm>
            <a:off x="152705" y="6409944"/>
            <a:ext cx="265450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3" name="Text 10"/>
          <p:cNvSpPr txBox="1"/>
          <p:nvPr/>
        </p:nvSpPr>
        <p:spPr>
          <a:xfrm>
            <a:off x="3074213" y="6409944"/>
            <a:ext cx="485912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4" name="Text 11"/>
          <p:cNvSpPr txBox="1"/>
          <p:nvPr/>
        </p:nvSpPr>
        <p:spPr>
          <a:xfrm>
            <a:off x="11486693" y="6409944"/>
            <a:ext cx="591617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 of 30</a:t>
            </a:r>
            <a:endParaRPr lang="en-US" sz="114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381537" y="6409944"/>
            <a:ext cx="810158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9486" y="6500470"/>
            <a:ext cx="1127455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Quiz 2: Answer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476402" y="1308506"/>
            <a:ext cx="11162995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want Copilot Chat to draft a Markdown summary of your model’s holdout performance (</a:t>
            </a:r>
            <a:pPr algn="l" indent="0" marL="0">
              <a:lnSpc>
                <a:spcPts val="2930"/>
              </a:lnSpc>
              <a:buNone/>
            </a:pPr>
            <a:r>
              <a:rPr lang="en-US" sz="1640" b="1" dirty="0">
                <a:solidFill>
                  <a:srgbClr val="082445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ROC AUC</a:t>
            </a:r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930"/>
              </a:lnSpc>
              <a:buNone/>
            </a:pPr>
            <a:r>
              <a:rPr lang="en-US" sz="1640" b="1" dirty="0">
                <a:solidFill>
                  <a:srgbClr val="082445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KS</a:t>
            </a:r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decile table) without hallucinating any numbers. How should you prompt it?</a:t>
            </a:r>
            <a:endParaRPr lang="en-US" sz="1730" dirty="0"/>
          </a:p>
        </p:txBody>
      </p:sp>
      <p:sp>
        <p:nvSpPr>
          <p:cNvPr id="8" name="Text 5"/>
          <p:cNvSpPr txBox="1"/>
          <p:nvPr/>
        </p:nvSpPr>
        <p:spPr>
          <a:xfrm>
            <a:off x="476402" y="2273198"/>
            <a:ext cx="11162995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Correct: C.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Save the actual run metrics to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metrics_output.json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decile_table.csv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attach both files with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#file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instruct Copilot to cite only numbers from those files (marking missing items as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TODO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).</a:t>
            </a:r>
            <a:endParaRPr lang="en-US" sz="1730" dirty="0"/>
          </a:p>
        </p:txBody>
      </p:sp>
      <p:sp>
        <p:nvSpPr>
          <p:cNvPr id="9" name="Text 6"/>
          <p:cNvSpPr txBox="1"/>
          <p:nvPr/>
        </p:nvSpPr>
        <p:spPr>
          <a:xfrm>
            <a:off x="476402" y="3237890"/>
            <a:ext cx="11162995" cy="74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Copilot cannot execute your model in its head; if no output file is in context, it will invent placeholder numbers</a:t>
            </a:r>
            <a:endParaRPr lang="en-US" sz="1730" dirty="0"/>
          </a:p>
        </p:txBody>
      </p:sp>
      <p:sp>
        <p:nvSpPr>
          <p:cNvPr id="10" name="Text 7"/>
          <p:cNvSpPr txBox="1"/>
          <p:nvPr/>
        </p:nvSpPr>
        <p:spPr>
          <a:xfrm>
            <a:off x="476402" y="4115714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Attaching the saved JSON and CSV files gives Copilot the exact figures from your test run</a:t>
            </a:r>
            <a:endParaRPr lang="en-US" sz="1730" dirty="0"/>
          </a:p>
        </p:txBody>
      </p:sp>
      <p:sp>
        <p:nvSpPr>
          <p:cNvPr id="11" name="Text 8"/>
          <p:cNvSpPr txBox="1"/>
          <p:nvPr/>
        </p:nvSpPr>
        <p:spPr>
          <a:xfrm>
            <a:off x="476402" y="4621378"/>
            <a:ext cx="11162995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Instructing Copilot to write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TODO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missing items stops it from guessing uncomputed metrics</a:t>
            </a:r>
            <a:endParaRPr lang="en-US" sz="1730" dirty="0"/>
          </a:p>
        </p:txBody>
      </p:sp>
      <p:sp>
        <p:nvSpPr>
          <p:cNvPr id="12" name="Text 9"/>
          <p:cNvSpPr txBox="1"/>
          <p:nvPr/>
        </p:nvSpPr>
        <p:spPr>
          <a:xfrm>
            <a:off x="152705" y="6409944"/>
            <a:ext cx="265724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3" name="Text 10"/>
          <p:cNvSpPr txBox="1"/>
          <p:nvPr/>
        </p:nvSpPr>
        <p:spPr>
          <a:xfrm>
            <a:off x="3076042" y="6409944"/>
            <a:ext cx="486369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4" name="Text 11"/>
          <p:cNvSpPr txBox="1"/>
          <p:nvPr/>
        </p:nvSpPr>
        <p:spPr>
          <a:xfrm>
            <a:off x="11495837" y="6409944"/>
            <a:ext cx="58155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 of 30</a:t>
            </a:r>
            <a:endParaRPr lang="en-US" sz="114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371478" y="6409944"/>
            <a:ext cx="820217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1257" y="6500470"/>
            <a:ext cx="1127455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Quiz 3 of 3: Discussion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476402" y="1251814"/>
            <a:ext cx="5410505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195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</a:t>
            </a:r>
            <a:endParaRPr lang="en-US" sz="1950" dirty="0"/>
          </a:p>
        </p:txBody>
      </p:sp>
      <p:sp>
        <p:nvSpPr>
          <p:cNvPr id="8" name="Text 5"/>
          <p:cNvSpPr txBox="1"/>
          <p:nvPr/>
        </p:nvSpPr>
        <p:spPr>
          <a:xfrm>
            <a:off x="476402" y="1943100"/>
            <a:ext cx="5410505" cy="1862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teammate has a 25-cell Jupyter notebook (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experiment.ipynb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that loads data, engineers features, fits a gradient boosting model, and prints validation metrics. They want to use Copilot to turn it into clean, tested Python modules under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src/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30" dirty="0"/>
          </a:p>
        </p:txBody>
      </p:sp>
      <p:sp>
        <p:nvSpPr>
          <p:cNvPr id="9" name="Text 6"/>
          <p:cNvSpPr txBox="1"/>
          <p:nvPr/>
        </p:nvSpPr>
        <p:spPr>
          <a:xfrm>
            <a:off x="6229807" y="1251814"/>
            <a:ext cx="5410505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195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</a:t>
            </a:r>
            <a:endParaRPr lang="en-US" sz="1950" dirty="0"/>
          </a:p>
        </p:txBody>
      </p:sp>
      <p:sp>
        <p:nvSpPr>
          <p:cNvPr id="10" name="Text 7"/>
          <p:cNvSpPr txBox="1"/>
          <p:nvPr/>
        </p:nvSpPr>
        <p:spPr>
          <a:xfrm>
            <a:off x="6229807" y="1857146"/>
            <a:ext cx="54095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is pasting the whole notebook with “Convert this to a Python package” risky?</a:t>
            </a:r>
            <a:endParaRPr lang="en-US" sz="1580" dirty="0"/>
          </a:p>
        </p:txBody>
      </p:sp>
      <p:sp>
        <p:nvSpPr>
          <p:cNvPr id="11" name="Text 8"/>
          <p:cNvSpPr txBox="1"/>
          <p:nvPr/>
        </p:nvSpPr>
        <p:spPr>
          <a:xfrm>
            <a:off x="6229807" y="2630729"/>
            <a:ext cx="5409590" cy="646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should they sequence Copilot Chat,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#file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/tests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extract the code safely?</a:t>
            </a:r>
            <a:endParaRPr lang="en-US" sz="1580" dirty="0"/>
          </a:p>
        </p:txBody>
      </p:sp>
      <p:sp>
        <p:nvSpPr>
          <p:cNvPr id="12" name="Text 9"/>
          <p:cNvSpPr txBox="1"/>
          <p:nvPr/>
        </p:nvSpPr>
        <p:spPr>
          <a:xfrm>
            <a:off x="6229807" y="3409798"/>
            <a:ext cx="540959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can they verify that the extracted functions produce the exact same outputs as the notebook cells?</a:t>
            </a:r>
            <a:endParaRPr lang="en-US" sz="1580" dirty="0"/>
          </a:p>
        </p:txBody>
      </p:sp>
      <p:sp>
        <p:nvSpPr>
          <p:cNvPr id="13" name="Text 10"/>
          <p:cNvSpPr txBox="1"/>
          <p:nvPr/>
        </p:nvSpPr>
        <p:spPr>
          <a:xfrm>
            <a:off x="152705" y="6409944"/>
            <a:ext cx="265450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4" name="Text 11"/>
          <p:cNvSpPr txBox="1"/>
          <p:nvPr/>
        </p:nvSpPr>
        <p:spPr>
          <a:xfrm>
            <a:off x="3074213" y="6409944"/>
            <a:ext cx="485912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5" name="Text 12"/>
          <p:cNvSpPr txBox="1"/>
          <p:nvPr/>
        </p:nvSpPr>
        <p:spPr>
          <a:xfrm>
            <a:off x="11485778" y="6409944"/>
            <a:ext cx="591617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 of 30</a:t>
            </a:r>
            <a:endParaRPr lang="en-US" sz="114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372393" y="6409944"/>
            <a:ext cx="819302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1257" y="6500470"/>
            <a:ext cx="1127455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Quiz 3: Discussion Points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476402" y="1375258"/>
            <a:ext cx="11162995" cy="1118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teammate has a 25-cell Jupyter notebook (</a:t>
            </a:r>
            <a:pPr algn="l" indent="0" marL="0">
              <a:lnSpc>
                <a:spcPts val="2930"/>
              </a:lnSpc>
              <a:buNone/>
            </a:pPr>
            <a:r>
              <a:rPr lang="en-US" sz="1640" b="1" dirty="0">
                <a:solidFill>
                  <a:srgbClr val="082445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experiment.ipynb</a:t>
            </a:r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that loads data, engineers features, fits a gradient boosting model, and prints validation metrics. They want to use Copilot to turn it into clean, tested Python modules under </a:t>
            </a:r>
            <a:pPr algn="l" indent="0" marL="0">
              <a:lnSpc>
                <a:spcPts val="2930"/>
              </a:lnSpc>
              <a:buNone/>
            </a:pPr>
            <a:r>
              <a:rPr lang="en-US" sz="1640" b="1" dirty="0">
                <a:solidFill>
                  <a:srgbClr val="082445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src/</a:t>
            </a:r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30" dirty="0"/>
          </a:p>
        </p:txBody>
      </p:sp>
      <p:sp>
        <p:nvSpPr>
          <p:cNvPr id="8" name="Text 5"/>
          <p:cNvSpPr txBox="1"/>
          <p:nvPr/>
        </p:nvSpPr>
        <p:spPr>
          <a:xfrm>
            <a:off x="476402" y="2808122"/>
            <a:ext cx="5410505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195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Answers Mention</a:t>
            </a:r>
            <a:endParaRPr lang="en-US" sz="1950" dirty="0"/>
          </a:p>
        </p:txBody>
      </p:sp>
      <p:sp>
        <p:nvSpPr>
          <p:cNvPr id="9" name="Text 6"/>
          <p:cNvSpPr txBox="1"/>
          <p:nvPr/>
        </p:nvSpPr>
        <p:spPr>
          <a:xfrm>
            <a:off x="476402" y="3413455"/>
            <a:ext cx="5409590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Copilot Chat to read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#file experiment.ipynb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propose an extraction plan before writing any code</a:t>
            </a:r>
            <a:endParaRPr lang="en-US" sz="1580" dirty="0"/>
          </a:p>
        </p:txBody>
      </p:sp>
      <p:sp>
        <p:nvSpPr>
          <p:cNvPr id="10" name="Text 7"/>
          <p:cNvSpPr txBox="1"/>
          <p:nvPr/>
        </p:nvSpPr>
        <p:spPr>
          <a:xfrm>
            <a:off x="476402" y="4509821"/>
            <a:ext cx="5409590" cy="966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 one cell group at a time (for example,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features.py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first, then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pipeline.py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then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evaluate.py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1580" dirty="0"/>
          </a:p>
        </p:txBody>
      </p:sp>
      <p:sp>
        <p:nvSpPr>
          <p:cNvPr id="11" name="Text 8"/>
          <p:cNvSpPr txBox="1"/>
          <p:nvPr/>
        </p:nvSpPr>
        <p:spPr>
          <a:xfrm>
            <a:off x="476402" y="5609844"/>
            <a:ext cx="5409590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/tests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after each extracted module to lock behavior with unit tests before moving to the next cell group</a:t>
            </a:r>
            <a:endParaRPr lang="en-US" sz="1580" dirty="0"/>
          </a:p>
        </p:txBody>
      </p:sp>
      <p:sp>
        <p:nvSpPr>
          <p:cNvPr id="12" name="Text 9"/>
          <p:cNvSpPr txBox="1"/>
          <p:nvPr/>
        </p:nvSpPr>
        <p:spPr>
          <a:xfrm>
            <a:off x="476402" y="6706210"/>
            <a:ext cx="5409590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row counts, feature values, and metric outputs between the notebook and the new module to confirm parity</a:t>
            </a:r>
            <a:endParaRPr lang="en-US" sz="1580" dirty="0"/>
          </a:p>
        </p:txBody>
      </p:sp>
      <p:sp>
        <p:nvSpPr>
          <p:cNvPr id="13" name="Text 10"/>
          <p:cNvSpPr txBox="1"/>
          <p:nvPr/>
        </p:nvSpPr>
        <p:spPr>
          <a:xfrm>
            <a:off x="6229807" y="2808122"/>
            <a:ext cx="5410505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195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For</a:t>
            </a:r>
            <a:endParaRPr lang="en-US" sz="1950" dirty="0"/>
          </a:p>
        </p:txBody>
      </p:sp>
      <p:sp>
        <p:nvSpPr>
          <p:cNvPr id="14" name="Text 11"/>
          <p:cNvSpPr txBox="1"/>
          <p:nvPr/>
        </p:nvSpPr>
        <p:spPr>
          <a:xfrm>
            <a:off x="6229807" y="3413455"/>
            <a:ext cx="54095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Extracting all 25 cells in a single prompt and trying to debug a giant multi-file diff at the end</a:t>
            </a:r>
            <a:endParaRPr lang="en-US" sz="1580" dirty="0"/>
          </a:p>
        </p:txBody>
      </p:sp>
      <p:sp>
        <p:nvSpPr>
          <p:cNvPr id="15" name="Text 12"/>
          <p:cNvSpPr txBox="1"/>
          <p:nvPr/>
        </p:nvSpPr>
        <p:spPr>
          <a:xfrm>
            <a:off x="6229807" y="4187038"/>
            <a:ext cx="540959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Allowing Copilot to change feature formulas or imputation rules while refactoring notebook code into functions</a:t>
            </a:r>
            <a:endParaRPr lang="en-US" sz="1580" dirty="0"/>
          </a:p>
        </p:txBody>
      </p:sp>
      <p:sp>
        <p:nvSpPr>
          <p:cNvPr id="16" name="Text 13"/>
          <p:cNvSpPr txBox="1"/>
          <p:nvPr/>
        </p:nvSpPr>
        <p:spPr>
          <a:xfrm>
            <a:off x="6229807" y="5279746"/>
            <a:ext cx="54095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Deleting notebook cells before verifying that the new module produces identical results</a:t>
            </a:r>
            <a:endParaRPr lang="en-US" sz="1580" dirty="0"/>
          </a:p>
        </p:txBody>
      </p:sp>
      <p:sp>
        <p:nvSpPr>
          <p:cNvPr id="17" name="Text 14"/>
          <p:cNvSpPr txBox="1"/>
          <p:nvPr/>
        </p:nvSpPr>
        <p:spPr>
          <a:xfrm>
            <a:off x="152705" y="6409944"/>
            <a:ext cx="265450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8" name="Text 15"/>
          <p:cNvSpPr txBox="1"/>
          <p:nvPr/>
        </p:nvSpPr>
        <p:spPr>
          <a:xfrm>
            <a:off x="3074213" y="6409944"/>
            <a:ext cx="485912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9" name="Text 16"/>
          <p:cNvSpPr txBox="1"/>
          <p:nvPr/>
        </p:nvSpPr>
        <p:spPr>
          <a:xfrm>
            <a:off x="11486693" y="6409944"/>
            <a:ext cx="591617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 of 30</a:t>
            </a:r>
            <a:endParaRPr lang="en-US" sz="114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365992" y="6409944"/>
            <a:ext cx="825703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49701" y="1194206"/>
            <a:ext cx="5015484" cy="501548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5770" y="6500470"/>
            <a:ext cx="1127455" cy="2670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 and Answers</a:t>
            </a:r>
            <a:endParaRPr lang="en-US" sz="3300" dirty="0"/>
          </a:p>
        </p:txBody>
      </p:sp>
      <p:sp>
        <p:nvSpPr>
          <p:cNvPr id="8" name="Text 4"/>
          <p:cNvSpPr txBox="1"/>
          <p:nvPr/>
        </p:nvSpPr>
        <p:spPr>
          <a:xfrm>
            <a:off x="152705" y="6409944"/>
            <a:ext cx="265358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9" name="Text 5"/>
          <p:cNvSpPr txBox="1"/>
          <p:nvPr/>
        </p:nvSpPr>
        <p:spPr>
          <a:xfrm>
            <a:off x="3072384" y="6409944"/>
            <a:ext cx="485637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0" name="Text 6"/>
          <p:cNvSpPr txBox="1"/>
          <p:nvPr/>
        </p:nvSpPr>
        <p:spPr>
          <a:xfrm>
            <a:off x="11480292" y="6409944"/>
            <a:ext cx="59710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of 30</a:t>
            </a:r>
            <a:endParaRPr lang="en-US" sz="11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Copilot for Credit Analytics and Risk Modeling</dc:title>
  <dc:subject>GitHub Copilot for Credit Analytics and Risk Modeling</dc:subject>
  <dc:creator>ROI Training</dc:creator>
  <cp:lastModifiedBy>ROI Training</cp:lastModifiedBy>
  <cp:revision>1</cp:revision>
  <dcterms:created xsi:type="dcterms:W3CDTF">2026-10-21T17:09:08Z</dcterms:created>
  <dcterms:modified xsi:type="dcterms:W3CDTF">2026-10-21T17:09:08Z</dcterms:modified>
</cp:coreProperties>
</file>