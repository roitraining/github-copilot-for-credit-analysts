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4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9" y="437998"/>
            <a:ext cx="3146450" cy="5715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0556" y="6500470"/>
            <a:ext cx="1468526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66598" y="4158691"/>
            <a:ext cx="7349947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9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</a:t>
            </a:r>
            <a:endParaRPr lang="en-US" sz="3750" dirty="0"/>
          </a:p>
        </p:txBody>
      </p:sp>
      <p:sp>
        <p:nvSpPr>
          <p:cNvPr id="8" name="Text 4"/>
          <p:cNvSpPr txBox="1"/>
          <p:nvPr/>
        </p:nvSpPr>
        <p:spPr>
          <a:xfrm>
            <a:off x="666598" y="4753966"/>
            <a:ext cx="3975811" cy="595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9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Risk Modeling</a:t>
            </a:r>
            <a:endParaRPr lang="en-US" sz="3750" dirty="0"/>
          </a:p>
        </p:txBody>
      </p:sp>
      <p:sp>
        <p:nvSpPr>
          <p:cNvPr id="9" name="Text 5"/>
          <p:cNvSpPr txBox="1"/>
          <p:nvPr/>
        </p:nvSpPr>
        <p:spPr>
          <a:xfrm>
            <a:off x="666598" y="5349240"/>
            <a:ext cx="8065008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180" b="1" dirty="0">
                <a:solidFill>
                  <a:srgbClr val="B9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One-day applied workshop for credit analysts and modelers</a:t>
            </a:r>
            <a:endParaRPr lang="en-US" sz="2180" dirty="0"/>
          </a:p>
        </p:txBody>
      </p:sp>
      <p:sp>
        <p:nvSpPr>
          <p:cNvPr id="10" name="Text 6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1" name="Text 7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2" name="Text 8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of 6</a:t>
            </a:r>
            <a:endParaRPr lang="en-US" sz="11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8128102" y="66751"/>
            <a:ext cx="4063594" cy="6334049"/>
          </a:xfrm>
          <a:prstGeom prst="rect">
            <a:avLst/>
          </a:prstGeom>
          <a:solidFill>
            <a:srgbClr val="1E71D6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2597" y="1506931"/>
            <a:ext cx="3454603" cy="345460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33095" y="295351"/>
            <a:ext cx="7060997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Welcome!</a:t>
            </a:r>
            <a:endParaRPr lang="en-US" sz="3300" dirty="0"/>
          </a:p>
        </p:txBody>
      </p:sp>
      <p:sp>
        <p:nvSpPr>
          <p:cNvPr id="9" name="Text 5"/>
          <p:cNvSpPr txBox="1"/>
          <p:nvPr/>
        </p:nvSpPr>
        <p:spPr>
          <a:xfrm>
            <a:off x="534010" y="1308506"/>
            <a:ext cx="7060997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 leads the industry in designing and delivering customized technology and management training solutions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534010" y="2187245"/>
            <a:ext cx="7060997" cy="152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your instructor</a:t>
            </a:r>
            <a:pPr algn="l" indent="0" marL="0">
              <a:lnSpc>
                <a:spcPts val="2930"/>
              </a:lnSpc>
              <a:buNone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838505" y="2596896"/>
            <a:ext cx="67565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</a:t>
            </a:r>
            <a:endParaRPr lang="en-US" sz="1730" dirty="0"/>
          </a:p>
        </p:txBody>
      </p:sp>
      <p:sp>
        <p:nvSpPr>
          <p:cNvPr id="12" name="Text 8"/>
          <p:cNvSpPr txBox="1"/>
          <p:nvPr/>
        </p:nvSpPr>
        <p:spPr>
          <a:xfrm>
            <a:off x="838505" y="2969971"/>
            <a:ext cx="67565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</a:t>
            </a:r>
            <a:endParaRPr lang="en-US" sz="1730" dirty="0"/>
          </a:p>
        </p:txBody>
      </p:sp>
      <p:sp>
        <p:nvSpPr>
          <p:cNvPr id="13" name="Text 9"/>
          <p:cNvSpPr txBox="1"/>
          <p:nvPr/>
        </p:nvSpPr>
        <p:spPr>
          <a:xfrm>
            <a:off x="838505" y="3342132"/>
            <a:ext cx="67565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info</a:t>
            </a:r>
            <a:endParaRPr lang="en-US" sz="1730" dirty="0"/>
          </a:p>
        </p:txBody>
      </p:sp>
      <p:sp>
        <p:nvSpPr>
          <p:cNvPr id="14" name="Text 10"/>
          <p:cNvSpPr txBox="1"/>
          <p:nvPr/>
        </p:nvSpPr>
        <p:spPr>
          <a:xfrm>
            <a:off x="534010" y="3847795"/>
            <a:ext cx="706099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Let’s get started!</a:t>
            </a:r>
            <a:endParaRPr lang="en-US" sz="1730" dirty="0"/>
          </a:p>
        </p:txBody>
      </p:sp>
      <p:sp>
        <p:nvSpPr>
          <p:cNvPr id="15" name="Text 11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6" name="Text 12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7" name="Text 13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of 6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76402" y="295351"/>
            <a:ext cx="1116299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Objectives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476402" y="130850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GitHub Copilot in VS Code to speed up credit analytics and modeling</a:t>
            </a:r>
            <a:endParaRPr lang="en-US" sz="1730" dirty="0"/>
          </a:p>
        </p:txBody>
      </p:sp>
      <p:sp>
        <p:nvSpPr>
          <p:cNvPr id="8" name="Text 5"/>
          <p:cNvSpPr txBox="1"/>
          <p:nvPr/>
        </p:nvSpPr>
        <p:spPr>
          <a:xfrm>
            <a:off x="476402" y="1814170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context scoping, chat commands, and instructions to direct code output</a:t>
            </a:r>
            <a:endParaRPr lang="en-US" sz="1730" dirty="0"/>
          </a:p>
        </p:txBody>
      </p:sp>
      <p:sp>
        <p:nvSpPr>
          <p:cNvPr id="9" name="Text 6"/>
          <p:cNvSpPr txBox="1"/>
          <p:nvPr/>
        </p:nvSpPr>
        <p:spPr>
          <a:xfrm>
            <a:off x="476402" y="2319833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Copilot to translate and draft SQL and Python data scripts</a:t>
            </a:r>
            <a:endParaRPr lang="en-US" sz="1730" dirty="0"/>
          </a:p>
        </p:txBody>
      </p:sp>
      <p:sp>
        <p:nvSpPr>
          <p:cNvPr id="10" name="Text 7"/>
          <p:cNvSpPr txBox="1"/>
          <p:nvPr/>
        </p:nvSpPr>
        <p:spPr>
          <a:xfrm>
            <a:off x="476402" y="2825496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baseline machine learning model and validation code</a:t>
            </a:r>
            <a:endParaRPr lang="en-US" sz="1730" dirty="0"/>
          </a:p>
        </p:txBody>
      </p:sp>
      <p:sp>
        <p:nvSpPr>
          <p:cNvPr id="11" name="Text 8"/>
          <p:cNvSpPr txBox="1"/>
          <p:nvPr/>
        </p:nvSpPr>
        <p:spPr>
          <a:xfrm>
            <a:off x="476402" y="3331159"/>
            <a:ext cx="111629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Refactor, test, and document AI-assisted code</a:t>
            </a:r>
            <a:endParaRPr lang="en-US" sz="1730" dirty="0"/>
          </a:p>
        </p:txBody>
      </p:sp>
      <p:sp>
        <p:nvSpPr>
          <p:cNvPr id="12" name="Text 9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1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of 6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751"/>
            <a:ext cx="4063594" cy="6334049"/>
          </a:xfrm>
          <a:prstGeom prst="rect">
            <a:avLst/>
          </a:prstGeom>
          <a:solidFill>
            <a:srgbClr val="1E71D6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495" y="1506931"/>
            <a:ext cx="3454603" cy="345460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97603" y="295351"/>
            <a:ext cx="7060997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3300" dirty="0"/>
          </a:p>
        </p:txBody>
      </p:sp>
      <p:sp>
        <p:nvSpPr>
          <p:cNvPr id="9" name="Text 5"/>
          <p:cNvSpPr txBox="1"/>
          <p:nvPr/>
        </p:nvSpPr>
        <p:spPr>
          <a:xfrm>
            <a:off x="4597603" y="1308506"/>
            <a:ext cx="706099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1: Copilot Fundamentals and Secure Context-Setting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4597603" y="1814170"/>
            <a:ext cx="706099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2: AI-Assisted Data Exploration and Analytics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4597603" y="2319833"/>
            <a:ext cx="706099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3: Modeling and Strategy Validation</a:t>
            </a:r>
            <a:endParaRPr lang="en-US" sz="1730" dirty="0"/>
          </a:p>
        </p:txBody>
      </p:sp>
      <p:sp>
        <p:nvSpPr>
          <p:cNvPr id="12" name="Text 8"/>
          <p:cNvSpPr txBox="1"/>
          <p:nvPr/>
        </p:nvSpPr>
        <p:spPr>
          <a:xfrm>
            <a:off x="4597603" y="2825496"/>
            <a:ext cx="706099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4: Agentic Governance and Code Lifecycle</a:t>
            </a:r>
            <a:endParaRPr lang="en-US" sz="1730" dirty="0"/>
          </a:p>
        </p:txBody>
      </p:sp>
      <p:sp>
        <p:nvSpPr>
          <p:cNvPr id="13" name="Text 9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4" name="Text 10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5" name="Text 11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6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8128102" y="66751"/>
            <a:ext cx="4063594" cy="6334049"/>
          </a:xfrm>
          <a:prstGeom prst="rect">
            <a:avLst/>
          </a:prstGeom>
          <a:solidFill>
            <a:srgbClr val="1E71D6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2597" y="1506931"/>
            <a:ext cx="3454603" cy="345460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33095" y="295351"/>
            <a:ext cx="7060997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Should Attend</a:t>
            </a:r>
            <a:endParaRPr lang="en-US" sz="3300" dirty="0"/>
          </a:p>
        </p:txBody>
      </p:sp>
      <p:sp>
        <p:nvSpPr>
          <p:cNvPr id="9" name="Text 5"/>
          <p:cNvSpPr txBox="1"/>
          <p:nvPr/>
        </p:nvSpPr>
        <p:spPr>
          <a:xfrm>
            <a:off x="534010" y="1308506"/>
            <a:ext cx="706099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modeling and tech professionals who code daily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534010" y="1814170"/>
            <a:ext cx="7060997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Analysts and developers working in Python, SQL, SAS, or PySpark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534010" y="2692908"/>
            <a:ext cx="7060997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Adopters of GitHub Copilot who want sharper VS Code habits and team practices</a:t>
            </a:r>
            <a:endParaRPr lang="en-US" sz="1730" dirty="0"/>
          </a:p>
        </p:txBody>
      </p:sp>
      <p:sp>
        <p:nvSpPr>
          <p:cNvPr id="12" name="Text 8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3" name="Text 9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4" name="Text 10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6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6751"/>
          </a:xfrm>
          <a:prstGeom prst="roundRect">
            <a:avLst>
              <a:gd name="adj" fmla="val 171233"/>
            </a:avLst>
          </a:prstGeom>
          <a:solidFill>
            <a:srgbClr val="1E71D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751"/>
            <a:ext cx="4063594" cy="6334049"/>
          </a:xfrm>
          <a:prstGeom prst="rect">
            <a:avLst/>
          </a:prstGeom>
          <a:solidFill>
            <a:srgbClr val="1E71D6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6409944"/>
            <a:ext cx="761695" cy="448056"/>
          </a:xfrm>
          <a:prstGeom prst="rect">
            <a:avLst/>
          </a:prstGeom>
          <a:solidFill>
            <a:srgbClr val="1E71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495" y="1506931"/>
            <a:ext cx="3454603" cy="3454603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0634" y="6500470"/>
            <a:ext cx="1127455" cy="2670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97603" y="295351"/>
            <a:ext cx="7060997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3300" b="1" dirty="0">
                <a:solidFill>
                  <a:srgbClr val="0824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Prerequisites</a:t>
            </a:r>
            <a:endParaRPr lang="en-US" sz="3300" dirty="0"/>
          </a:p>
        </p:txBody>
      </p:sp>
      <p:sp>
        <p:nvSpPr>
          <p:cNvPr id="9" name="Text 5"/>
          <p:cNvSpPr txBox="1"/>
          <p:nvPr/>
        </p:nvSpPr>
        <p:spPr>
          <a:xfrm>
            <a:off x="4597603" y="1308506"/>
            <a:ext cx="706099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Coding experience in Python, SAS, and/or SQL</a:t>
            </a:r>
            <a:endParaRPr lang="en-US" sz="1730" dirty="0"/>
          </a:p>
        </p:txBody>
      </p:sp>
      <p:sp>
        <p:nvSpPr>
          <p:cNvPr id="10" name="Text 6"/>
          <p:cNvSpPr txBox="1"/>
          <p:nvPr/>
        </p:nvSpPr>
        <p:spPr>
          <a:xfrm>
            <a:off x="4597603" y="1814170"/>
            <a:ext cx="7060997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with Visual Studio Code as a development environment</a:t>
            </a:r>
            <a:endParaRPr lang="en-US" sz="1730" dirty="0"/>
          </a:p>
        </p:txBody>
      </p:sp>
      <p:sp>
        <p:nvSpPr>
          <p:cNvPr id="11" name="Text 7"/>
          <p:cNvSpPr txBox="1"/>
          <p:nvPr/>
        </p:nvSpPr>
        <p:spPr>
          <a:xfrm>
            <a:off x="4597603" y="2692908"/>
            <a:ext cx="706099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Foundational knowledge of the credit analytics lifecycle</a:t>
            </a:r>
            <a:endParaRPr lang="en-US" sz="1730" dirty="0"/>
          </a:p>
        </p:txBody>
      </p:sp>
      <p:sp>
        <p:nvSpPr>
          <p:cNvPr id="12" name="Text 8"/>
          <p:cNvSpPr txBox="1"/>
          <p:nvPr/>
        </p:nvSpPr>
        <p:spPr>
          <a:xfrm>
            <a:off x="4597603" y="3198571"/>
            <a:ext cx="706099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 and GitHub Copilot installed</a:t>
            </a:r>
            <a:endParaRPr lang="en-US" sz="1730" dirty="0"/>
          </a:p>
        </p:txBody>
      </p:sp>
      <p:sp>
        <p:nvSpPr>
          <p:cNvPr id="13" name="Text 9"/>
          <p:cNvSpPr txBox="1"/>
          <p:nvPr/>
        </p:nvSpPr>
        <p:spPr>
          <a:xfrm>
            <a:off x="4597603" y="3704234"/>
            <a:ext cx="706099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4800" indent="-304800">
              <a:lnSpc>
                <a:spcPts val="2930"/>
              </a:lnSpc>
              <a:buSzPct val="100000"/>
              <a:buChar char="•"/>
            </a:pPr>
            <a:r>
              <a:rPr lang="en-US" sz="1730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active Copilot license</a:t>
            </a:r>
            <a:endParaRPr lang="en-US" sz="1730" dirty="0"/>
          </a:p>
        </p:txBody>
      </p:sp>
      <p:sp>
        <p:nvSpPr>
          <p:cNvPr id="14" name="Text 10"/>
          <p:cNvSpPr txBox="1"/>
          <p:nvPr/>
        </p:nvSpPr>
        <p:spPr>
          <a:xfrm>
            <a:off x="152705" y="6409944"/>
            <a:ext cx="266913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80" b="1" dirty="0">
                <a:solidFill>
                  <a:srgbClr val="1C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Copilot for Credit Analytics and Risk Modeling</a:t>
            </a:r>
            <a:endParaRPr lang="en-US" sz="1080" dirty="0"/>
          </a:p>
        </p:txBody>
      </p:sp>
      <p:sp>
        <p:nvSpPr>
          <p:cNvPr id="15" name="Text 11"/>
          <p:cNvSpPr txBox="1"/>
          <p:nvPr/>
        </p:nvSpPr>
        <p:spPr>
          <a:xfrm>
            <a:off x="3088843" y="6409944"/>
            <a:ext cx="4885639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© 2026 Copyright ROI Training, Inc.</a:t>
            </a:r>
            <a:pPr algn="ctr" indent="0" marL="0">
              <a:lnSpc>
                <a:spcPts val="1020"/>
              </a:lnSpc>
              <a:buNone/>
            </a:pPr>
            <a:endParaRPr lang="en-US" sz="820" dirty="0"/>
          </a:p>
          <a:p>
            <a:pPr algn="ctr" indent="0" marL="0">
              <a:lnSpc>
                <a:spcPts val="1020"/>
              </a:lnSpc>
              <a:buNone/>
            </a:pPr>
            <a:r>
              <a:rPr lang="en-US" sz="820" dirty="0">
                <a:solidFill>
                  <a:srgbClr val="495F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rights reserved. Not to be reproduced without prior written consent. </a:t>
            </a:r>
            <a:endParaRPr lang="en-US" sz="820" dirty="0"/>
          </a:p>
        </p:txBody>
      </p:sp>
      <p:sp>
        <p:nvSpPr>
          <p:cNvPr id="16" name="Text 12"/>
          <p:cNvSpPr txBox="1"/>
          <p:nvPr/>
        </p:nvSpPr>
        <p:spPr>
          <a:xfrm>
            <a:off x="11544300" y="6409944"/>
            <a:ext cx="533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6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for Credit Analytics and Risk Modeling</dc:title>
  <dc:subject>GitHub Copilot for Credit Analytics and Risk Modeling</dc:subject>
  <dc:creator>ROI Training</dc:creator>
  <cp:lastModifiedBy>ROI Training</cp:lastModifiedBy>
  <cp:revision>1</cp:revision>
  <dcterms:created xsi:type="dcterms:W3CDTF">2026-10-21T17:08:53Z</dcterms:created>
  <dcterms:modified xsi:type="dcterms:W3CDTF">2026-10-21T17:08:53Z</dcterms:modified>
</cp:coreProperties>
</file>